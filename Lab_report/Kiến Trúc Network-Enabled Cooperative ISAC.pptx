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6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90461" y="2839938"/>
            <a:ext cx="8611076" cy="635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sz="4350" b="1" i="0" u="none">
                <a:solidFill>
                  <a:srgbClr val="F8FAFC"/>
                </a:solidFill>
                <a:latin typeface="Poppins"/>
              </a:rPr>
              <a:t>Cooperative ISAC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95487" y="3618011"/>
            <a:ext cx="82010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Kiến Trúc Mạng Tích Hợp Cảm Biến &amp; Truyền Thông (Network-Enabled ISAC Architecture)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947" y="2871787"/>
            <a:ext cx="789395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38BDF8"/>
                </a:solidFill>
                <a:latin typeface="Poppins"/>
              </a:rPr>
              <a:t>01. Tổng Quan &amp; Hướng Tối Ưu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757612"/>
            <a:ext cx="7143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Phân định hai phương diện phát triển cốt lõi: Hạ Tầng Viễn Thông và Mạng Thông Minh Network-Enabled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38350"/>
            <a:ext cx="5324475" cy="3638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38350"/>
            <a:ext cx="5324475" cy="3638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333625"/>
            <a:ext cx="497062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DD4BF"/>
                </a:solidFill>
                <a:latin typeface="Poppins SemiBold"/>
              </a:rPr>
              <a:t>1. Hướng Viễn Thông (Hardware/Phy)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781300"/>
            <a:ext cx="47339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Focus vào tối ưu hóa tầng vật lý và linh kiện hạ tầng vô tuyến: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2333625"/>
            <a:ext cx="497062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DD4BF"/>
                </a:solidFill>
                <a:latin typeface="Poppins SemiBold"/>
              </a:rPr>
              <a:t>2. Hướng Mạng (Network-Enabled)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781300"/>
            <a:ext cx="47339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Tối ưu hóa mức hệ thống và quản lý tài nguyên phối hợp: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09950"/>
            <a:ext cx="44672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Mảng Anten &amp; Beamforming: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Tăng số lượng phần tử Massive MIMO.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067175"/>
            <a:ext cx="44672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Dạng Sóng (Joint Waveform):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Thiết kế tín hiệu mang dữ liệu đồng thời chiếu xạ môi trường.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724400"/>
            <a:ext cx="44672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Xử Lý Tần Số: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Khai thác băng tần cao mmWave và Sub-THz.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8475" y="3152775"/>
            <a:ext cx="44672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Chia Sẻ Dữ Liệu: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Hợp nhất tín hiệu cảm biến từ nhiều nút phân tán.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8475" y="3810000"/>
            <a:ext cx="44672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Quản Lý Tài Nguyên: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Phân bổ tần số/công suất linh hoạt.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8475" y="4467225"/>
            <a:ext cx="44672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Multistatic Sensing: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Tận dụng 100% hạ tầng thu để triệt tiêu góc chết.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3352800"/>
            <a:ext cx="152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4010025"/>
            <a:ext cx="152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4667250"/>
            <a:ext cx="152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7975" y="3095625"/>
            <a:ext cx="152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7975" y="3752850"/>
            <a:ext cx="152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7975" y="4410075"/>
            <a:ext cx="152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485775"/>
            <a:ext cx="11431428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oppins"/>
              </a:rPr>
              <a:t>Hai Hướng Tối Ưu Cốt Lõi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025" y="485775"/>
            <a:ext cx="38100" cy="523875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90737"/>
            <a:ext cx="2578893" cy="3533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8043" y="2090737"/>
            <a:ext cx="2578893" cy="3533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090737"/>
            <a:ext cx="2578893" cy="3533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2081" y="2090737"/>
            <a:ext cx="2578893" cy="3533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366962"/>
            <a:ext cx="609600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3167062"/>
            <a:ext cx="2127765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oppins SemiBold"/>
              </a:rPr>
              <a:t>Kiến Trúc &amp; Chuẩn Hóa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948112"/>
            <a:ext cx="2026443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Nâng cấp giao thức RAN protocol để hỗ trợ luồng dữ liệu cảm biến song song với dữ liệu viễn thông.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4268" y="2366962"/>
            <a:ext cx="6096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74268" y="3167062"/>
            <a:ext cx="183038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oppins SemiBold"/>
              </a:rPr>
              <a:t>RRM &amp; Lập Lịch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4268" y="3614737"/>
            <a:ext cx="2026443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Quản lý tài nguyên vô tuyến (RRM) và điều phối lập lịch (Scheduling) ưu tiên theo thời gian thực.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1287" y="2366962"/>
            <a:ext cx="609600" cy="609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91287" y="3167062"/>
            <a:ext cx="2127765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oppins SemiBold"/>
              </a:rPr>
              <a:t>Đa Trạm &amp; Khử Nhiễu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1287" y="3948112"/>
            <a:ext cx="2026443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Điều phối CoMP giữa các trạm phát/thu nhằm triệt tiêu can nhiễu tự thân và can nhiễu đồng kênh.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08306" y="2366962"/>
            <a:ext cx="609600" cy="609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08306" y="3167062"/>
            <a:ext cx="2127765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oppins SemiBold"/>
              </a:rPr>
              <a:t>AI &amp; Edge Computing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306" y="3948112"/>
            <a:ext cx="2026443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Tích hợp trí tuệ nhân tạo tại biên mạng để dự đoán quỹ đạo và xử lý nhanh dữ liệu cảm biến.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7737" y="2500312"/>
            <a:ext cx="428625" cy="3429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07618" y="2500312"/>
            <a:ext cx="342900" cy="3429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00825" y="2500312"/>
            <a:ext cx="390525" cy="3429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41656" y="2500312"/>
            <a:ext cx="342900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3900" y="485775"/>
            <a:ext cx="11431428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oppins"/>
              </a:rPr>
              <a:t>Trụ Cột Network-Enabled ISAC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1025" y="485775"/>
            <a:ext cx="38100" cy="523875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52460" y="2871787"/>
            <a:ext cx="6686929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38BDF8"/>
                </a:solidFill>
                <a:latin typeface="Poppins"/>
              </a:rPr>
              <a:t>02. Hạ Tầng &amp; Nút Di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757612"/>
            <a:ext cx="7143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Vai trò của Trạm Phát, Trạm Thu, UAV và Bề Mặt Thông Minh RIS trong mô hình Multistatic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47875"/>
            <a:ext cx="53244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57400"/>
            <a:ext cx="5305425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047875"/>
            <a:ext cx="49434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8BDF8"/>
                </a:solidFill>
                <a:latin typeface="Inter"/>
              </a:rPr>
              <a:t>Trạm Phát (Tx Nodes - gNodeB / RSU):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Thực hiện truyền dữ liệu viễn thông đồng thời phát sóng chiếu xạ môi trường xung quanh.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990850"/>
            <a:ext cx="49434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8BDF8"/>
                </a:solidFill>
                <a:latin typeface="Inter"/>
              </a:rPr>
              <a:t>Trạm Thu (Rx Nodes):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Chuyên nhận tín hiệu dội (echo) từ môi trường để xử lý cảm biến đa tĩnh.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676650"/>
            <a:ext cx="49434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8BDF8"/>
                </a:solidFill>
                <a:latin typeface="Inter"/>
              </a:rPr>
              <a:t>Khử Điểm Mù: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Xử lý tín hiệu thu giúp gia tăng góc quét, nâng cao độ phân giải và loại bỏ hoàn toàn các vùng chết góc khuất.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25" y="1990725"/>
            <a:ext cx="152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" y="2933700"/>
            <a:ext cx="152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" y="3619500"/>
            <a:ext cx="152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071687"/>
            <a:ext cx="238125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014662"/>
            <a:ext cx="209550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700462"/>
            <a:ext cx="238125" cy="219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3900" y="485775"/>
            <a:ext cx="11431428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oppins"/>
              </a:rPr>
              <a:t>Trạm Phát &amp; Trạm Thu Mặt Đất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485775"/>
            <a:ext cx="38100" cy="523875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485775"/>
            <a:ext cx="5390673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oppins"/>
              </a:rPr>
              <a:t>Nút UAV &amp; Bề Mặt RIS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485775"/>
            <a:ext cx="38100" cy="523875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1343025"/>
            <a:ext cx="554069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1F5F9"/>
                </a:solidFill>
                <a:latin typeface="Poppins SemiBold"/>
              </a:rPr>
              <a:t>1. Thiết Bị Bay UAV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1790700"/>
            <a:ext cx="5276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Trạm ISAC Trên Không: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Phát/thu sóng trực tiếp xuống khu vực bị che khuất tầm nhìn mặt đất.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419350"/>
            <a:ext cx="5276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Nút Thu Tiếp Sức: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Thu sóng phản xạ từ môi trường và truyền tải về trung tâm xử lý.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3190875"/>
            <a:ext cx="554069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1F5F9"/>
                </a:solidFill>
                <a:latin typeface="Poppins SemiBold"/>
              </a:rPr>
              <a:t>2. Bề Mặt Thông Minh 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638550"/>
            <a:ext cx="52768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Gắn trên các tòa nhà cao tầng để tái định hướng búp sóng, biến đường truyền bị che khuất (NLOS) thành đường truyền thẳng (LOS).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03988" y="2871787"/>
            <a:ext cx="7184022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38BDF8"/>
                </a:solidFill>
                <a:latin typeface="Poppins"/>
              </a:rPr>
              <a:t>03. Phương Tiện &amp; 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757612"/>
            <a:ext cx="7143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Sự tương tác linh hoạt giữa Ô tô di động, Người dùng UE và các lớp Mục tiêu Cảm biến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47875"/>
            <a:ext cx="53244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57400"/>
            <a:ext cx="5305425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047875"/>
            <a:ext cx="49434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8BDF8"/>
                </a:solidFill>
                <a:latin typeface="Inter"/>
              </a:rPr>
              <a:t>Nút ISAC Di Động (Xe Thông Minh):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Tự động phát/thu sóng giao tiếp với xe khác (V2V) và hạ tầng (V2I), vừa quét radar dò đường và chia sẻ cho xe bị khuất.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990850"/>
            <a:ext cx="49434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8BDF8"/>
                </a:solidFill>
                <a:latin typeface="Inter"/>
              </a:rPr>
              <a:t>Người Dùng (Communication UE):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Tải bản đồ độ nét cao (HD Map) và cảnh báo an toàn qua Downlink.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676650"/>
            <a:ext cx="49434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8BDF8"/>
                </a:solidFill>
                <a:latin typeface="Inter"/>
              </a:rPr>
              <a:t>Uplink Trả Về: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Gửi liên tục dữ liệu hành trình, tốc độ và vị trí lên hệ thống mạng.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25" y="1990725"/>
            <a:ext cx="152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" y="2933700"/>
            <a:ext cx="152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" y="3619500"/>
            <a:ext cx="152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071687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014662"/>
            <a:ext cx="161925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700462"/>
            <a:ext cx="209550" cy="219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3900" y="485775"/>
            <a:ext cx="11431428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oppins"/>
              </a:rPr>
              <a:t>Ô Tô Di Động &amp; Thiết Bị 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485775"/>
            <a:ext cx="38100" cy="523875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95537"/>
            <a:ext cx="5324475" cy="2924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95537"/>
            <a:ext cx="5324475" cy="2924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690812"/>
            <a:ext cx="497062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DD4BF"/>
                </a:solidFill>
                <a:latin typeface="Poppins SemiBold"/>
              </a:rPr>
              <a:t>Non-Cooperative Targets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138487"/>
            <a:ext cx="47339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Mục Tiêu Không Hợp Tác: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09962"/>
            <a:ext cx="47339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Đối tượng không chủ động phát ra tín hiệu nhận diện (Người đi bộ, chướng ngại vật, drone lạ, ô tô thường).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138612"/>
            <a:ext cx="47339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Mạng sử dụng đặc tính phản xạ sóng vô tuyến (RCS - Radar Cross Section) để định vị, đo khoảng cách và vận tốc Doppler.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690812"/>
            <a:ext cx="497062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DD4BF"/>
                </a:solidFill>
                <a:latin typeface="Poppins SemiBold"/>
              </a:rPr>
              <a:t>Cooperative Targets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138487"/>
            <a:ext cx="47339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Mục Tiêu Hợp Tác: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3509962"/>
            <a:ext cx="47339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Đối tượng có gắn thiết bị định vị, thẻ transponder hoặc tag phản hồi thông tin.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4138612"/>
            <a:ext cx="47339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Phản hồi mã định danh (ID) và tọa độ sơ bộ giúp hệ thống theo dõi chính xác tuyệt đối trong môi trường phức tạp.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485775"/>
            <a:ext cx="11431428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oppins"/>
              </a:rPr>
              <a:t>Phân Loại Mục Tiêu Cảm Biến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485775"/>
            <a:ext cx="38100" cy="523875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485775"/>
            <a:ext cx="5390673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oppins"/>
              </a:rPr>
              <a:t>Xử Lý Trung Tâm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485775"/>
            <a:ext cx="38100" cy="523875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1343025"/>
            <a:ext cx="554069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1F5F9"/>
                </a:solidFill>
                <a:latin typeface="Poppins SemiBold"/>
              </a:rPr>
              <a:t>Vị Trí Triển Khai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1790700"/>
            <a:ext cx="5276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Đặt tại Trạm gốc chính (Master gNodeB) hoặc Máy chủ đám mây biên (Edge Cloud Server).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562225"/>
            <a:ext cx="554069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1F5F9"/>
                </a:solidFill>
                <a:latin typeface="Poppins SemiBold"/>
              </a:rPr>
              <a:t>Nhiệm Vụ Cốt Lõi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3009900"/>
            <a:ext cx="5276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1. Phân Bổ Búp Sóng: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Điều phối linh hoạt công suất và hướng phát sóng toàn mạng.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638550"/>
            <a:ext cx="52768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2. Hợp Nhất Dữ Liệu (Data Fusion):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Tổng hợp tín hiệu dội từ nhiều trạm thu/UAV/xe để tạo bản sao số (Digital Twin) theo thời gian thực.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865</Words>
  <Application>Microsoft Office PowerPoint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Inter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 Dinh Minh Duong 20233355</cp:lastModifiedBy>
  <cp:revision>2</cp:revision>
  <dcterms:created xsi:type="dcterms:W3CDTF">2013-01-27T09:14:16Z</dcterms:created>
  <dcterms:modified xsi:type="dcterms:W3CDTF">2026-08-20T15:27:00Z</dcterms:modified>
  <cp:category/>
</cp:coreProperties>
</file>