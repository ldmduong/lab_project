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9" r:id="rId5"/>
    <p:sldId id="273" r:id="rId6"/>
    <p:sldId id="259" r:id="rId7"/>
    <p:sldId id="261" r:id="rId8"/>
    <p:sldId id="270" r:id="rId9"/>
    <p:sldId id="271" r:id="rId10"/>
    <p:sldId id="272" r:id="rId11"/>
    <p:sldId id="262" r:id="rId12"/>
    <p:sldId id="260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xSEXPPle+d9XRCQMbfUasXnn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D3FF5BB4-A137-92DA-34FB-7A4F89F7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>
            <a:extLst>
              <a:ext uri="{FF2B5EF4-FFF2-40B4-BE49-F238E27FC236}">
                <a16:creationId xmlns:a16="http://schemas.microsoft.com/office/drawing/2014/main" id="{0EC73354-178D-C8DB-3C13-50B98A86A6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4304B6C9-93CA-C79B-F822-573B5C58E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3361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C99EA62-2884-2C81-8A45-230F4718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>
            <a:extLst>
              <a:ext uri="{FF2B5EF4-FFF2-40B4-BE49-F238E27FC236}">
                <a16:creationId xmlns:a16="http://schemas.microsoft.com/office/drawing/2014/main" id="{9EE78426-52B6-943F-C863-C677D96BD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FB515016-B958-A9FD-F331-2ED7B39B0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82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BE3ED30-9C2C-0832-CAD9-0EAC41C4E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>
            <a:extLst>
              <a:ext uri="{FF2B5EF4-FFF2-40B4-BE49-F238E27FC236}">
                <a16:creationId xmlns:a16="http://schemas.microsoft.com/office/drawing/2014/main" id="{ADB6FFFD-B23F-371C-386A-D7F1CA506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9A1AD48E-69C1-929C-E00F-E42E39886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609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750E228-B8FE-E944-5223-AB7CAD84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>
            <a:extLst>
              <a:ext uri="{FF2B5EF4-FFF2-40B4-BE49-F238E27FC236}">
                <a16:creationId xmlns:a16="http://schemas.microsoft.com/office/drawing/2014/main" id="{67175493-44CB-3234-8282-C5E45F5D8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>
            <a:extLst>
              <a:ext uri="{FF2B5EF4-FFF2-40B4-BE49-F238E27FC236}">
                <a16:creationId xmlns:a16="http://schemas.microsoft.com/office/drawing/2014/main" id="{DFE97CE3-6B1F-DAE5-3C46-26BB332E2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0577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19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9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21"/>
          <p:cNvSpPr>
            <a:spLocks noGrp="1"/>
          </p:cNvSpPr>
          <p:nvPr>
            <p:ph type="chart" idx="2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21"/>
          <p:cNvSpPr>
            <a:spLocks noGrp="1"/>
          </p:cNvSpPr>
          <p:nvPr>
            <p:ph type="tbl" idx="3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1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24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386633" y="2219413"/>
            <a:ext cx="7939219" cy="1457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C00000"/>
              </a:buClr>
              <a:buSzPts val="5400"/>
            </a:pPr>
            <a:r>
              <a:rPr lang="en-GB" sz="32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Cooperative Sensing for 6G ISAC: Concept, Key Technologies, Performance Evaluation, and Field Trial</a:t>
            </a:r>
            <a:endParaRPr sz="3200" dirty="0">
              <a:solidFill>
                <a:srgbClr val="C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" name="Google Shape;95;p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7B482D0-3AA9-7207-215C-A8A4FA0A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>
            <a:extLst>
              <a:ext uri="{FF2B5EF4-FFF2-40B4-BE49-F238E27FC236}">
                <a16:creationId xmlns:a16="http://schemas.microsoft.com/office/drawing/2014/main" id="{64972220-B635-C6AD-957D-35E7A793C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1. Định nghĩa </a:t>
            </a:r>
            <a:endParaRPr dirty="0"/>
          </a:p>
        </p:txBody>
      </p:sp>
      <p:sp>
        <p:nvSpPr>
          <p:cNvPr id="116" name="Google Shape;116;p6">
            <a:extLst>
              <a:ext uri="{FF2B5EF4-FFF2-40B4-BE49-F238E27FC236}">
                <a16:creationId xmlns:a16="http://schemas.microsoft.com/office/drawing/2014/main" id="{544FD373-479B-8A2E-BD5E-B1EB77A82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>
              <a:spcBef>
                <a:spcPts val="0"/>
              </a:spcBef>
              <a:buNone/>
            </a:pPr>
            <a:r>
              <a:rPr lang="en-GB" b="1" dirty="0"/>
              <a:t>ISAC (Integrated Sensing and Communication – </a:t>
            </a:r>
            <a:r>
              <a:rPr lang="en-GB" b="1" dirty="0" err="1"/>
              <a:t>Tích</a:t>
            </a:r>
            <a:r>
              <a:rPr lang="en-GB" b="1" dirty="0"/>
              <a:t> </a:t>
            </a:r>
            <a:r>
              <a:rPr lang="en-GB" b="1" dirty="0" err="1"/>
              <a:t>hợp</a:t>
            </a:r>
            <a:r>
              <a:rPr lang="en-GB" b="1" dirty="0"/>
              <a:t> </a:t>
            </a:r>
            <a:r>
              <a:rPr lang="en-GB" b="1" dirty="0" err="1"/>
              <a:t>Cảm</a:t>
            </a:r>
            <a:r>
              <a:rPr lang="en-GB" b="1" dirty="0"/>
              <a:t> </a:t>
            </a:r>
            <a:r>
              <a:rPr lang="en-GB" b="1" dirty="0" err="1"/>
              <a:t>biến</a:t>
            </a:r>
            <a:r>
              <a:rPr lang="en-GB" b="1" dirty="0"/>
              <a:t> </a:t>
            </a:r>
            <a:r>
              <a:rPr lang="en-GB" b="1" dirty="0" err="1"/>
              <a:t>và</a:t>
            </a:r>
            <a:r>
              <a:rPr lang="en-GB" b="1" dirty="0"/>
              <a:t> </a:t>
            </a:r>
            <a:r>
              <a:rPr lang="en-GB" b="1" dirty="0" err="1"/>
              <a:t>Truyền</a:t>
            </a:r>
            <a:r>
              <a:rPr lang="en-GB" b="1" dirty="0"/>
              <a:t> </a:t>
            </a:r>
            <a:r>
              <a:rPr lang="en-GB" b="1" dirty="0" err="1"/>
              <a:t>thông</a:t>
            </a:r>
            <a:r>
              <a:rPr lang="en-GB" b="1" dirty="0"/>
              <a:t>)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nghệ</a:t>
            </a:r>
            <a:r>
              <a:rPr lang="en-GB" dirty="0"/>
              <a:t> </a:t>
            </a:r>
            <a:r>
              <a:rPr lang="en-GB" dirty="0" err="1"/>
              <a:t>tích</a:t>
            </a:r>
            <a:r>
              <a:rPr lang="en-GB" dirty="0"/>
              <a:t> </a:t>
            </a:r>
            <a:r>
              <a:rPr lang="en-GB" dirty="0" err="1"/>
              <a:t>hợp</a:t>
            </a:r>
            <a:r>
              <a:rPr lang="en-GB" dirty="0"/>
              <a:t> </a:t>
            </a:r>
            <a:r>
              <a:rPr lang="en-GB" dirty="0" err="1"/>
              <a:t>cả</a:t>
            </a:r>
            <a:r>
              <a:rPr lang="en-GB" dirty="0"/>
              <a:t> </a:t>
            </a:r>
            <a:r>
              <a:rPr lang="en-GB" dirty="0" err="1"/>
              <a:t>chức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</a:t>
            </a:r>
            <a:r>
              <a:rPr lang="en-GB" dirty="0" err="1"/>
              <a:t>truyền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(communication)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chức</a:t>
            </a:r>
            <a:r>
              <a:rPr lang="en-GB" dirty="0"/>
              <a:t> </a:t>
            </a:r>
            <a:r>
              <a:rPr lang="en-GB" dirty="0" err="1"/>
              <a:t>năng</a:t>
            </a:r>
            <a:r>
              <a:rPr lang="en-GB" dirty="0"/>
              <a:t> </a:t>
            </a:r>
            <a:r>
              <a:rPr lang="en-GB" dirty="0" err="1"/>
              <a:t>cảm</a:t>
            </a:r>
            <a:r>
              <a:rPr lang="en-GB" dirty="0"/>
              <a:t> </a:t>
            </a:r>
            <a:r>
              <a:rPr lang="en-GB" dirty="0" err="1"/>
              <a:t>biến</a:t>
            </a:r>
            <a:r>
              <a:rPr lang="en-GB" dirty="0"/>
              <a:t>/</a:t>
            </a:r>
            <a:r>
              <a:rPr lang="en-GB" dirty="0" err="1"/>
              <a:t>dò</a:t>
            </a:r>
            <a:r>
              <a:rPr lang="en-GB" dirty="0"/>
              <a:t> </a:t>
            </a:r>
            <a:r>
              <a:rPr lang="en-GB" dirty="0" err="1"/>
              <a:t>tìm</a:t>
            </a:r>
            <a:r>
              <a:rPr lang="en-GB" dirty="0"/>
              <a:t> (radar sensing)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cùng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mạng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dây</a:t>
            </a:r>
            <a:r>
              <a:rPr lang="en-GB" dirty="0"/>
              <a:t>, chia </a:t>
            </a:r>
            <a:r>
              <a:rPr lang="en-GB" dirty="0" err="1"/>
              <a:t>sẻ</a:t>
            </a:r>
            <a:r>
              <a:rPr lang="en-GB" dirty="0"/>
              <a:t> </a:t>
            </a:r>
            <a:r>
              <a:rPr lang="en-GB" dirty="0" err="1"/>
              <a:t>chung</a:t>
            </a:r>
            <a:r>
              <a:rPr lang="en-GB" dirty="0"/>
              <a:t> </a:t>
            </a:r>
            <a:r>
              <a:rPr lang="en-GB" dirty="0" err="1"/>
              <a:t>phổ</a:t>
            </a:r>
            <a:r>
              <a:rPr lang="en-GB" dirty="0"/>
              <a:t> </a:t>
            </a:r>
            <a:r>
              <a:rPr lang="en-GB" dirty="0" err="1"/>
              <a:t>tần</a:t>
            </a:r>
            <a:r>
              <a:rPr lang="en-GB" dirty="0"/>
              <a:t>,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cứng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dirty="0" err="1"/>
              <a:t>tín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.</a:t>
            </a:r>
            <a:endParaRPr lang="vi-VN" dirty="0"/>
          </a:p>
          <a:p>
            <a:pPr marL="228600" lvl="0" indent="-50800">
              <a:spcBef>
                <a:spcPts val="0"/>
              </a:spcBef>
              <a:buNone/>
            </a:pPr>
            <a:endParaRPr lang="vi-VN" dirty="0"/>
          </a:p>
          <a:p>
            <a:pPr marL="228600" lvl="0" indent="-50800">
              <a:spcBef>
                <a:spcPts val="0"/>
              </a:spcBef>
              <a:buNone/>
            </a:pPr>
            <a:endParaRPr lang="vi-VN" dirty="0"/>
          </a:p>
          <a:p>
            <a:pPr marL="228600" lvl="0" indent="-50800">
              <a:spcBef>
                <a:spcPts val="0"/>
              </a:spcBef>
              <a:buNone/>
            </a:pPr>
            <a:r>
              <a:rPr lang="en-GB" b="1" dirty="0"/>
              <a:t>Cooperative ISAC (ISAC </a:t>
            </a:r>
            <a:r>
              <a:rPr lang="en-GB" b="1" dirty="0" err="1"/>
              <a:t>Hợp</a:t>
            </a:r>
            <a:r>
              <a:rPr lang="en-GB" b="1" dirty="0"/>
              <a:t> </a:t>
            </a:r>
            <a:r>
              <a:rPr lang="en-GB" b="1" dirty="0" err="1"/>
              <a:t>tác</a:t>
            </a:r>
            <a:r>
              <a:rPr lang="en-GB" b="1" dirty="0"/>
              <a:t> / </a:t>
            </a:r>
            <a:r>
              <a:rPr lang="en-GB" b="1" dirty="0" err="1"/>
              <a:t>Cộng</a:t>
            </a:r>
            <a:r>
              <a:rPr lang="en-GB" b="1" dirty="0"/>
              <a:t> </a:t>
            </a:r>
            <a:r>
              <a:rPr lang="en-GB" b="1" dirty="0" err="1"/>
              <a:t>tác</a:t>
            </a:r>
            <a:r>
              <a:rPr lang="en-GB" b="1" dirty="0"/>
              <a:t>)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bước</a:t>
            </a:r>
            <a:r>
              <a:rPr lang="en-GB" dirty="0"/>
              <a:t>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triển</a:t>
            </a:r>
            <a:r>
              <a:rPr lang="en-GB" dirty="0"/>
              <a:t> </a:t>
            </a:r>
            <a:r>
              <a:rPr lang="en-GB" dirty="0" err="1"/>
              <a:t>nâng</a:t>
            </a:r>
            <a:r>
              <a:rPr lang="en-GB" dirty="0"/>
              <a:t> </a:t>
            </a:r>
            <a:r>
              <a:rPr lang="en-GB" dirty="0" err="1"/>
              <a:t>cao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ISAC, </a:t>
            </a:r>
            <a:r>
              <a:rPr lang="en-GB" dirty="0" err="1"/>
              <a:t>chuyển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</a:t>
            </a:r>
            <a:r>
              <a:rPr lang="en-GB" dirty="0" err="1"/>
              <a:t>đơn</a:t>
            </a:r>
            <a:r>
              <a:rPr lang="en-GB" dirty="0"/>
              <a:t> </a:t>
            </a:r>
            <a:r>
              <a:rPr lang="en-GB" dirty="0" err="1"/>
              <a:t>trạm</a:t>
            </a:r>
            <a:r>
              <a:rPr lang="en-GB" dirty="0"/>
              <a:t>/</a:t>
            </a:r>
            <a:r>
              <a:rPr lang="en-GB" dirty="0" err="1"/>
              <a:t>đơn</a:t>
            </a:r>
            <a:r>
              <a:rPr lang="en-GB" dirty="0"/>
              <a:t> </a:t>
            </a:r>
            <a:r>
              <a:rPr lang="en-GB" dirty="0" err="1"/>
              <a:t>điểm</a:t>
            </a:r>
            <a:r>
              <a:rPr lang="en-GB" dirty="0"/>
              <a:t> (Monostatic ISAC –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trạm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phát</a:t>
            </a:r>
            <a:r>
              <a:rPr lang="en-GB" dirty="0"/>
              <a:t> </a:t>
            </a:r>
            <a:r>
              <a:rPr lang="en-GB" dirty="0" err="1"/>
              <a:t>tín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thu</a:t>
            </a:r>
            <a:r>
              <a:rPr lang="en-GB" dirty="0"/>
              <a:t> </a:t>
            </a:r>
            <a:r>
              <a:rPr lang="en-GB" dirty="0" err="1"/>
              <a:t>sóng</a:t>
            </a:r>
            <a:r>
              <a:rPr lang="en-GB" dirty="0"/>
              <a:t> </a:t>
            </a:r>
            <a:r>
              <a:rPr lang="en-GB" dirty="0" err="1"/>
              <a:t>phản</a:t>
            </a:r>
            <a:r>
              <a:rPr lang="en-GB" dirty="0"/>
              <a:t> </a:t>
            </a:r>
            <a:r>
              <a:rPr lang="en-GB" dirty="0" err="1"/>
              <a:t>xạ</a:t>
            </a:r>
            <a:r>
              <a:rPr lang="en-GB" dirty="0"/>
              <a:t>) sang </a:t>
            </a:r>
            <a:r>
              <a:rPr lang="en-GB" b="1" dirty="0" err="1"/>
              <a:t>mô</a:t>
            </a:r>
            <a:r>
              <a:rPr lang="en-GB" b="1" dirty="0"/>
              <a:t> </a:t>
            </a:r>
            <a:r>
              <a:rPr lang="en-GB" b="1" dirty="0" err="1"/>
              <a:t>hình</a:t>
            </a:r>
            <a:r>
              <a:rPr lang="en-GB" b="1" dirty="0"/>
              <a:t> </a:t>
            </a:r>
            <a:r>
              <a:rPr lang="en-GB" b="1" dirty="0" err="1"/>
              <a:t>mạng</a:t>
            </a:r>
            <a:r>
              <a:rPr lang="en-GB" b="1" dirty="0"/>
              <a:t> </a:t>
            </a:r>
            <a:r>
              <a:rPr lang="en-GB" b="1" dirty="0" err="1"/>
              <a:t>lưới</a:t>
            </a:r>
            <a:r>
              <a:rPr lang="en-GB" b="1" dirty="0"/>
              <a:t> </a:t>
            </a:r>
            <a:r>
              <a:rPr lang="en-GB" b="1" dirty="0" err="1"/>
              <a:t>phối</a:t>
            </a:r>
            <a:r>
              <a:rPr lang="en-GB" b="1" dirty="0"/>
              <a:t> </a:t>
            </a:r>
            <a:r>
              <a:rPr lang="en-GB" b="1" dirty="0" err="1"/>
              <a:t>hợp</a:t>
            </a:r>
            <a:r>
              <a:rPr lang="en-GB" b="1" dirty="0"/>
              <a:t> </a:t>
            </a:r>
            <a:r>
              <a:rPr lang="en-GB" b="1" dirty="0" err="1"/>
              <a:t>đa</a:t>
            </a:r>
            <a:r>
              <a:rPr lang="en-GB" b="1" dirty="0"/>
              <a:t> </a:t>
            </a:r>
            <a:r>
              <a:rPr lang="en-GB" b="1" dirty="0" err="1"/>
              <a:t>điểm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D6E0FAAC-989E-E811-B838-ED8E3694F0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4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F48B1-50C4-A434-1D25-94054B86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1.1 Developing trend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ACBA6-EC8F-A2B3-2BCB-056E4568B1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60638-8BD8-E458-E94D-D354482A1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3" y="1051964"/>
            <a:ext cx="12101727" cy="46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7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2. Nội dung chính bài báo  </a:t>
            </a:r>
            <a:endParaRPr dirty="0"/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DF996-CEF3-CC71-4CBE-5C1B63435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1697" y="1153198"/>
            <a:ext cx="12875393" cy="4268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3. Tóm tắt nôi dung từng chương </a:t>
            </a:r>
            <a:endParaRPr dirty="0"/>
          </a:p>
        </p:txBody>
      </p:sp>
      <p:sp>
        <p:nvSpPr>
          <p:cNvPr id="117" name="Google Shape;117;p6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7E52A-716E-2CDF-EA1D-329DC8728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62" y="668404"/>
            <a:ext cx="11719676" cy="62621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9DAE1C5-FE82-7E40-625C-1EECE166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>
            <a:extLst>
              <a:ext uri="{FF2B5EF4-FFF2-40B4-BE49-F238E27FC236}">
                <a16:creationId xmlns:a16="http://schemas.microsoft.com/office/drawing/2014/main" id="{CF590DE5-D231-C7B0-0E20-80CCD83B44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3. Tóm tắt nôi dung từng chương </a:t>
            </a:r>
            <a:endParaRPr dirty="0"/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A7C2A257-55BD-1901-C72D-3A5702D26F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20F30B-2B33-7AAA-2268-AAAAFDAD8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9" y="614033"/>
            <a:ext cx="11461411" cy="606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1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A0D7683-BC4C-97F7-EEB9-38FEBDD2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>
            <a:extLst>
              <a:ext uri="{FF2B5EF4-FFF2-40B4-BE49-F238E27FC236}">
                <a16:creationId xmlns:a16="http://schemas.microsoft.com/office/drawing/2014/main" id="{464D630B-B758-DD4A-0856-F53E9D0B1C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3. Tóm tắt nôi dung từng chương </a:t>
            </a:r>
            <a:endParaRPr dirty="0"/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BDD463C0-465B-C426-D380-3D536394A3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CF23C6-F0AE-43E1-A86E-EB50C60EE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36" y="680593"/>
            <a:ext cx="11028641" cy="581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2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1E5EFA5-1C95-CA8D-F53A-045A7805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>
            <a:extLst>
              <a:ext uri="{FF2B5EF4-FFF2-40B4-BE49-F238E27FC236}">
                <a16:creationId xmlns:a16="http://schemas.microsoft.com/office/drawing/2014/main" id="{5971DD20-0170-6849-FE59-C12D93EC9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3. Tóm tắt nôi dung từng chương </a:t>
            </a:r>
            <a:endParaRPr dirty="0"/>
          </a:p>
        </p:txBody>
      </p:sp>
      <p:sp>
        <p:nvSpPr>
          <p:cNvPr id="117" name="Google Shape;117;p6">
            <a:extLst>
              <a:ext uri="{FF2B5EF4-FFF2-40B4-BE49-F238E27FC236}">
                <a16:creationId xmlns:a16="http://schemas.microsoft.com/office/drawing/2014/main" id="{6534328D-E20D-29B5-9E59-80F7452EE8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6CE20-8A58-E922-1566-C8F8087C9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46" y="656841"/>
            <a:ext cx="11286907" cy="583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68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vi-VN" dirty="0"/>
              <a:t>4. System model</a:t>
            </a:r>
            <a:endParaRPr dirty="0"/>
          </a:p>
        </p:txBody>
      </p:sp>
      <p:sp>
        <p:nvSpPr>
          <p:cNvPr id="125" name="Google Shape;125;p7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D64E0-9836-6BE4-F0E8-F4AF89B9E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123" y="826879"/>
            <a:ext cx="8995753" cy="53877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 dirty="0"/>
          </a:p>
        </p:txBody>
      </p:sp>
      <p:sp>
        <p:nvSpPr>
          <p:cNvPr id="108" name="Google Shape;108;p5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Google Shape;110;p5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body" idx="1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32" name="Google Shape;132;p8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9" name="Google Shape;139;p9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46" name="Google Shape;146;p10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body" idx="1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endParaRPr/>
          </a:p>
        </p:txBody>
      </p:sp>
      <p:sp>
        <p:nvSpPr>
          <p:cNvPr id="161" name="Google Shape;161;p12"/>
          <p:cNvSpPr>
            <a:spLocks noGrp="1"/>
          </p:cNvSpPr>
          <p:nvPr>
            <p:ph type="chart" idx="2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"/>
          <p:cNvSpPr>
            <a:spLocks noGrp="1"/>
          </p:cNvSpPr>
          <p:nvPr>
            <p:ph type="pic" idx="3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5605763" y="2869457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lang="en-US" sz="60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ldNum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</Words>
  <Application>Microsoft Office PowerPoint</Application>
  <PresentationFormat>Widescreen</PresentationFormat>
  <Paragraphs>30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1. Định nghĩa </vt:lpstr>
      <vt:lpstr>1.1 Developing trend </vt:lpstr>
      <vt:lpstr>2. Nội dung chính bài báo  </vt:lpstr>
      <vt:lpstr>3. Tóm tắt nôi dung từng chương </vt:lpstr>
      <vt:lpstr>3. Tóm tắt nôi dung từng chương </vt:lpstr>
      <vt:lpstr>3. Tóm tắt nôi dung từng chương </vt:lpstr>
      <vt:lpstr>3. Tóm tắt nôi dung từng chương </vt:lpstr>
      <vt:lpstr>4. System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Phong TT &amp; QTTH</dc:creator>
  <cp:lastModifiedBy>Le Dinh Minh Duong 20233355</cp:lastModifiedBy>
  <cp:revision>2</cp:revision>
  <dcterms:created xsi:type="dcterms:W3CDTF">2021-05-28T04:32:29Z</dcterms:created>
  <dcterms:modified xsi:type="dcterms:W3CDTF">2026-08-17T07:46:02Z</dcterms:modified>
</cp:coreProperties>
</file>