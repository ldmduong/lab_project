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1" r:id="rId6"/>
    <p:sldId id="269" r:id="rId7"/>
    <p:sldId id="270" r:id="rId8"/>
    <p:sldId id="262" r:id="rId9"/>
    <p:sldId id="264" r:id="rId10"/>
    <p:sldId id="263" r:id="rId11"/>
    <p:sldId id="271" r:id="rId12"/>
    <p:sldId id="260" r:id="rId13"/>
    <p:sldId id="272" r:id="rId14"/>
    <p:sldId id="273" r:id="rId15"/>
    <p:sldId id="265" r:id="rId16"/>
    <p:sldId id="266" r:id="rId17"/>
    <p:sldId id="267" r:id="rId18"/>
    <p:sldId id="268" r:id="rId19"/>
  </p:sldIdLst>
  <p:sldSz cx="12192000" cy="6858000"/>
  <p:notesSz cx="6858000" cy="9144000"/>
  <p:embeddedFontLst>
    <p:embeddedFont>
      <p:font typeface="Lato" panose="020F0502020204030203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gxSEXPPle+d9XRCQMbfUasXnnv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83991BCD-CDCC-D713-0FE8-FB7D9E12E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>
            <a:extLst>
              <a:ext uri="{FF2B5EF4-FFF2-40B4-BE49-F238E27FC236}">
                <a16:creationId xmlns:a16="http://schemas.microsoft.com/office/drawing/2014/main" id="{2FB733BC-5BF6-A47A-1852-FF291424D7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9:notes">
            <a:extLst>
              <a:ext uri="{FF2B5EF4-FFF2-40B4-BE49-F238E27FC236}">
                <a16:creationId xmlns:a16="http://schemas.microsoft.com/office/drawing/2014/main" id="{EFCAC420-9133-4DB4-58AF-E9BC9CBCC7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615945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E3B9121E-3474-A622-A2D4-3D9A8668F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>
            <a:extLst>
              <a:ext uri="{FF2B5EF4-FFF2-40B4-BE49-F238E27FC236}">
                <a16:creationId xmlns:a16="http://schemas.microsoft.com/office/drawing/2014/main" id="{D7223734-1298-C547-1ADD-FA66B66DEC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9:notes">
            <a:extLst>
              <a:ext uri="{FF2B5EF4-FFF2-40B4-BE49-F238E27FC236}">
                <a16:creationId xmlns:a16="http://schemas.microsoft.com/office/drawing/2014/main" id="{47966A3E-0DC2-9539-122F-05BBB8E34A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584589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A0F336E1-6181-44F2-3471-A7CC2E993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>
            <a:extLst>
              <a:ext uri="{FF2B5EF4-FFF2-40B4-BE49-F238E27FC236}">
                <a16:creationId xmlns:a16="http://schemas.microsoft.com/office/drawing/2014/main" id="{E19F65DD-738D-ED00-A9AE-03C0671AE4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9:notes">
            <a:extLst>
              <a:ext uri="{FF2B5EF4-FFF2-40B4-BE49-F238E27FC236}">
                <a16:creationId xmlns:a16="http://schemas.microsoft.com/office/drawing/2014/main" id="{FAA36024-60DD-040C-E541-2F97275333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221573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5432F926-0C62-E588-12C9-FF3B97F8C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>
            <a:extLst>
              <a:ext uri="{FF2B5EF4-FFF2-40B4-BE49-F238E27FC236}">
                <a16:creationId xmlns:a16="http://schemas.microsoft.com/office/drawing/2014/main" id="{0E51E56F-481A-8B0F-CB20-A862AB1165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9:notes">
            <a:extLst>
              <a:ext uri="{FF2B5EF4-FFF2-40B4-BE49-F238E27FC236}">
                <a16:creationId xmlns:a16="http://schemas.microsoft.com/office/drawing/2014/main" id="{829C5CAD-EB7D-C598-5134-D2F73336B4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90298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39045ABF-E80C-5CF2-BE08-D422206E8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>
            <a:extLst>
              <a:ext uri="{FF2B5EF4-FFF2-40B4-BE49-F238E27FC236}">
                <a16:creationId xmlns:a16="http://schemas.microsoft.com/office/drawing/2014/main" id="{959D2022-73C8-7355-709C-C32874C7FB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9:notes">
            <a:extLst>
              <a:ext uri="{FF2B5EF4-FFF2-40B4-BE49-F238E27FC236}">
                <a16:creationId xmlns:a16="http://schemas.microsoft.com/office/drawing/2014/main" id="{5FF887AE-F4E1-EE6D-E2BF-E203C359D7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67799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title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7"/>
          <p:cNvSpPr txBox="1">
            <a:spLocks noGrp="1"/>
          </p:cNvSpPr>
          <p:nvPr>
            <p:ph type="dt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7"/>
          <p:cNvSpPr txBox="1">
            <a:spLocks noGrp="1"/>
          </p:cNvSpPr>
          <p:nvPr>
            <p:ph type="ft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7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body" idx="1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>
            <a:spLocks noGrp="1"/>
          </p:cNvSpPr>
          <p:nvPr>
            <p:ph type="dt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ft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" name="Google Shape;28;p19"/>
          <p:cNvSpPr>
            <a:spLocks noGrp="1"/>
          </p:cNvSpPr>
          <p:nvPr>
            <p:ph type="chart" idx="2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19"/>
          <p:cNvSpPr>
            <a:spLocks noGrp="1"/>
          </p:cNvSpPr>
          <p:nvPr>
            <p:ph type="pic" idx="3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0"/>
          <p:cNvSpPr txBox="1"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body" idx="1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dt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ft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>
            <a:spLocks noGrp="1"/>
          </p:cNvSpPr>
          <p:nvPr>
            <p:ph type="dt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ft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1" name="Google Shape;41;p21"/>
          <p:cNvSpPr>
            <a:spLocks noGrp="1"/>
          </p:cNvSpPr>
          <p:nvPr>
            <p:ph type="chart" idx="2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21"/>
          <p:cNvSpPr>
            <a:spLocks noGrp="1"/>
          </p:cNvSpPr>
          <p:nvPr>
            <p:ph type="tbl" idx="3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2"/>
          <p:cNvSpPr txBox="1">
            <a:spLocks noGrp="1"/>
          </p:cNvSpPr>
          <p:nvPr>
            <p:ph type="dt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ft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body" idx="1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mparison">
  <p:cSld name="2_Comparis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body" idx="1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dt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ft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3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4"/>
          <p:cNvSpPr txBox="1">
            <a:spLocks noGrp="1"/>
          </p:cNvSpPr>
          <p:nvPr>
            <p:ph type="dt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ft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24"/>
          <p:cNvSpPr>
            <a:spLocks noGrp="1"/>
          </p:cNvSpPr>
          <p:nvPr>
            <p:ph type="chart" idx="2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24"/>
          <p:cNvSpPr>
            <a:spLocks noGrp="1"/>
          </p:cNvSpPr>
          <p:nvPr>
            <p:ph type="pic" idx="3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mparison">
  <p:cSld name="1_Comparis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5"/>
          <p:cNvSpPr txBox="1"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body" idx="1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dt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ft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wo Content">
  <p:cSld name="2_Two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>
            <a:spLocks noGrp="1"/>
          </p:cNvSpPr>
          <p:nvPr>
            <p:ph type="dt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ft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26"/>
          <p:cNvSpPr txBox="1"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3" name="Google Shape;73;p26"/>
          <p:cNvSpPr>
            <a:spLocks noGrp="1"/>
          </p:cNvSpPr>
          <p:nvPr>
            <p:ph type="chart" idx="2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26"/>
          <p:cNvSpPr>
            <a:spLocks noGrp="1"/>
          </p:cNvSpPr>
          <p:nvPr>
            <p:ph type="pic" idx="3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7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/>
          <p:cNvSpPr txBox="1">
            <a:spLocks noGrp="1"/>
          </p:cNvSpPr>
          <p:nvPr>
            <p:ph type="title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"/>
          <p:cNvSpPr txBox="1"/>
          <p:nvPr/>
        </p:nvSpPr>
        <p:spPr>
          <a:xfrm>
            <a:off x="386634" y="2219413"/>
            <a:ext cx="7342482" cy="848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Lato"/>
              <a:buNone/>
            </a:pPr>
            <a:r>
              <a:rPr lang="vi-VN" sz="5400" b="1" i="0" u="none" strike="noStrike" cap="none" dirty="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  <a:t>SYSTEM MODEL ISAC</a:t>
            </a:r>
            <a:endParaRPr dirty="0"/>
          </a:p>
        </p:txBody>
      </p:sp>
      <p:sp>
        <p:nvSpPr>
          <p:cNvPr id="95" name="Google Shape;95;p3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vi-VN" dirty="0"/>
              <a:t>1. Kiến trúc mạng và các mức hợp tác </a:t>
            </a:r>
            <a:endParaRPr dirty="0"/>
          </a:p>
        </p:txBody>
      </p:sp>
      <p:sp>
        <p:nvSpPr>
          <p:cNvPr id="102" name="Google Shape;102;p4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0DF048-F4CD-A5F5-177A-892226BEC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" y="1281865"/>
            <a:ext cx="12192000" cy="41371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vi-VN"/>
              <a:t>1. Kiến trúc mạng và các mức hợp tác 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6" name="Google Shape;116;p6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37539" y="1032510"/>
                <a:ext cx="11515725" cy="49387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r>
                  <a:rPr lang="en-GB" dirty="0"/>
                  <a:t>Mạng </a:t>
                </a:r>
                <a:r>
                  <a:rPr lang="en-GB" dirty="0" err="1"/>
                  <a:t>gồm</a:t>
                </a:r>
                <a:r>
                  <a:rPr lang="en-GB" dirty="0"/>
                  <a:t> N node ISAC (BS) </a:t>
                </a:r>
                <a:r>
                  <a:rPr lang="en-GB" dirty="0" err="1"/>
                  <a:t>phân</a:t>
                </a:r>
                <a:r>
                  <a:rPr lang="en-GB" dirty="0"/>
                  <a:t> </a:t>
                </a:r>
                <a:r>
                  <a:rPr lang="en-GB" dirty="0" err="1"/>
                  <a:t>tán</a:t>
                </a:r>
                <a:r>
                  <a:rPr lang="en-GB" dirty="0"/>
                  <a:t>, </a:t>
                </a:r>
                <a:r>
                  <a:rPr lang="en-GB" dirty="0" err="1"/>
                  <a:t>mỗi</a:t>
                </a:r>
                <a:r>
                  <a:rPr lang="en-GB" dirty="0"/>
                  <a:t> node </a:t>
                </a:r>
                <a:r>
                  <a:rPr lang="en-GB" dirty="0" err="1"/>
                  <a:t>có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/>
                        </m:ctrlPr>
                      </m:sSubPr>
                      <m:e>
                        <m:r>
                          <a:rPr lang="en-GB" i="1"/>
                          <m:t>𝑀</m:t>
                        </m:r>
                      </m:e>
                      <m:sub>
                        <m:r>
                          <a:rPr lang="en-GB" i="1"/>
                          <m:t>𝑡</m:t>
                        </m:r>
                      </m:sub>
                    </m:sSub>
                  </m:oMath>
                </a14:m>
                <a:r>
                  <a:rPr lang="en-GB" dirty="0"/>
                  <a:t>​ </a:t>
                </a:r>
                <a:r>
                  <a:rPr lang="en-GB" dirty="0" err="1"/>
                  <a:t>anten</a:t>
                </a:r>
                <a:r>
                  <a:rPr lang="en-GB" dirty="0"/>
                  <a:t> </a:t>
                </a:r>
                <a:r>
                  <a:rPr lang="en-GB" dirty="0" err="1"/>
                  <a:t>phát</a:t>
                </a:r>
                <a:r>
                  <a:rPr lang="en-GB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/>
                        </m:ctrlPr>
                      </m:sSubPr>
                      <m:e>
                        <m:r>
                          <a:rPr lang="en-GB" i="1"/>
                          <m:t>𝑀</m:t>
                        </m:r>
                      </m:e>
                      <m:sub>
                        <m:r>
                          <a:rPr lang="en-GB" i="1"/>
                          <m:t>𝑟</m:t>
                        </m:r>
                      </m:sub>
                    </m:sSub>
                  </m:oMath>
                </a14:m>
                <a:r>
                  <a:rPr lang="en-GB" dirty="0"/>
                  <a:t>​ </a:t>
                </a:r>
                <a:r>
                  <a:rPr lang="en-GB" dirty="0" err="1"/>
                  <a:t>anten</a:t>
                </a:r>
                <a:r>
                  <a:rPr lang="en-GB" dirty="0"/>
                  <a:t> </a:t>
                </a:r>
                <a:r>
                  <a:rPr lang="en-GB" dirty="0" err="1"/>
                  <a:t>thu</a:t>
                </a:r>
                <a:r>
                  <a:rPr lang="en-GB" dirty="0"/>
                  <a:t>, </a:t>
                </a:r>
                <a:r>
                  <a:rPr lang="en-GB" dirty="0" err="1"/>
                  <a:t>hoạt</a:t>
                </a:r>
                <a:r>
                  <a:rPr lang="en-GB" dirty="0"/>
                  <a:t> </a:t>
                </a:r>
                <a:r>
                  <a:rPr lang="en-GB" dirty="0" err="1"/>
                  <a:t>động</a:t>
                </a:r>
                <a:r>
                  <a:rPr lang="en-GB" dirty="0"/>
                  <a:t> HD (</a:t>
                </a:r>
                <a:r>
                  <a:rPr lang="en-GB" dirty="0" err="1"/>
                  <a:t>tách</a:t>
                </a:r>
                <a:r>
                  <a:rPr lang="en-GB" dirty="0"/>
                  <a:t> </a:t>
                </a:r>
                <a:r>
                  <a:rPr lang="en-GB" dirty="0" err="1"/>
                  <a:t>biệt</a:t>
                </a:r>
                <a:r>
                  <a:rPr lang="en-GB" dirty="0"/>
                  <a:t> TX/RX) </a:t>
                </a:r>
                <a:r>
                  <a:rPr lang="en-GB" dirty="0" err="1"/>
                  <a:t>hoặc</a:t>
                </a:r>
                <a:r>
                  <a:rPr lang="en-GB" dirty="0"/>
                  <a:t> FD (</a:t>
                </a:r>
                <a:r>
                  <a:rPr lang="en-GB" dirty="0" err="1"/>
                  <a:t>đồng</a:t>
                </a:r>
                <a:r>
                  <a:rPr lang="en-GB" dirty="0"/>
                  <a:t> </a:t>
                </a:r>
                <a:r>
                  <a:rPr lang="en-GB" dirty="0" err="1"/>
                  <a:t>vị</a:t>
                </a:r>
                <a:r>
                  <a:rPr lang="en-GB" dirty="0"/>
                  <a:t> </a:t>
                </a:r>
                <a:r>
                  <a:rPr lang="en-GB" dirty="0" err="1"/>
                  <a:t>trí</a:t>
                </a:r>
                <a:r>
                  <a:rPr lang="en-GB" dirty="0"/>
                  <a:t>). </a:t>
                </a:r>
                <a:r>
                  <a:rPr lang="en-GB" dirty="0" err="1"/>
                  <a:t>Mức</a:t>
                </a:r>
                <a:r>
                  <a:rPr lang="en-GB" dirty="0"/>
                  <a:t> </a:t>
                </a:r>
                <a:r>
                  <a:rPr lang="en-GB" dirty="0" err="1"/>
                  <a:t>độ</a:t>
                </a:r>
                <a:r>
                  <a:rPr lang="en-GB" dirty="0"/>
                  <a:t> </a:t>
                </a:r>
                <a:r>
                  <a:rPr lang="en-GB" dirty="0" err="1"/>
                  <a:t>hợp</a:t>
                </a:r>
                <a:r>
                  <a:rPr lang="en-GB" dirty="0"/>
                  <a:t> </a:t>
                </a:r>
                <a:r>
                  <a:rPr lang="en-GB" dirty="0" err="1"/>
                  <a:t>tác</a:t>
                </a:r>
                <a:r>
                  <a:rPr lang="en-GB" dirty="0"/>
                  <a:t> </a:t>
                </a:r>
                <a:r>
                  <a:rPr lang="en-GB" dirty="0" err="1"/>
                  <a:t>quyết</a:t>
                </a:r>
                <a:r>
                  <a:rPr lang="en-GB" dirty="0"/>
                  <a:t> </a:t>
                </a:r>
                <a:r>
                  <a:rPr lang="en-GB" dirty="0" err="1"/>
                  <a:t>định</a:t>
                </a:r>
                <a:r>
                  <a:rPr lang="en-GB" dirty="0"/>
                  <a:t> overhead vs. gain:</a:t>
                </a:r>
              </a:p>
              <a:p>
                <a:pPr lvl="0"/>
                <a:r>
                  <a:rPr lang="en-GB" sz="2000" b="1" dirty="0"/>
                  <a:t>Non-cooperative</a:t>
                </a:r>
                <a:r>
                  <a:rPr lang="en-GB" sz="2000" dirty="0"/>
                  <a:t>: </a:t>
                </a:r>
                <a:r>
                  <a:rPr lang="en-GB" sz="2000" dirty="0" err="1"/>
                  <a:t>không</a:t>
                </a:r>
                <a:r>
                  <a:rPr lang="en-GB" sz="2000" dirty="0"/>
                  <a:t> chia </a:t>
                </a:r>
                <a:r>
                  <a:rPr lang="en-GB" sz="2000" dirty="0" err="1"/>
                  <a:t>sẻ</a:t>
                </a:r>
                <a:r>
                  <a:rPr lang="en-GB" sz="2000" dirty="0"/>
                  <a:t> CSI, </a:t>
                </a:r>
                <a:r>
                  <a:rPr lang="en-GB" sz="2000" dirty="0" err="1"/>
                  <a:t>không</a:t>
                </a:r>
                <a:r>
                  <a:rPr lang="en-GB" sz="2000" dirty="0"/>
                  <a:t> gain.</a:t>
                </a:r>
              </a:p>
              <a:p>
                <a:pPr lvl="0"/>
                <a:r>
                  <a:rPr lang="en-GB" sz="2000" b="1" dirty="0"/>
                  <a:t>Interference management</a:t>
                </a:r>
                <a:r>
                  <a:rPr lang="en-GB" sz="2000" dirty="0"/>
                  <a:t>: chia </a:t>
                </a:r>
                <a:r>
                  <a:rPr lang="en-GB" sz="2000" dirty="0" err="1"/>
                  <a:t>sẻ</a:t>
                </a:r>
                <a:r>
                  <a:rPr lang="en-GB" sz="2000" dirty="0"/>
                  <a:t> CSI </a:t>
                </a:r>
                <a:r>
                  <a:rPr lang="en-GB" sz="2000" dirty="0" err="1"/>
                  <a:t>người</a:t>
                </a:r>
                <a:r>
                  <a:rPr lang="en-GB" sz="2000" dirty="0"/>
                  <a:t> </a:t>
                </a:r>
                <a:r>
                  <a:rPr lang="en-GB" sz="2000" dirty="0" err="1"/>
                  <a:t>dùng</a:t>
                </a:r>
                <a:r>
                  <a:rPr lang="en-GB" sz="2000" dirty="0"/>
                  <a:t>/</a:t>
                </a:r>
                <a:r>
                  <a:rPr lang="en-GB" sz="2000" dirty="0" err="1"/>
                  <a:t>mục</a:t>
                </a:r>
                <a:r>
                  <a:rPr lang="en-GB" sz="2000" dirty="0"/>
                  <a:t> </a:t>
                </a:r>
                <a:r>
                  <a:rPr lang="en-GB" sz="2000" dirty="0" err="1"/>
                  <a:t>tiêu</a:t>
                </a:r>
                <a:r>
                  <a:rPr lang="en-GB" sz="2000" dirty="0"/>
                  <a:t> qua </a:t>
                </a:r>
                <a:r>
                  <a:rPr lang="en-GB" sz="2000" dirty="0" err="1"/>
                  <a:t>liên</a:t>
                </a:r>
                <a:r>
                  <a:rPr lang="en-GB" sz="2000" dirty="0"/>
                  <a:t> </a:t>
                </a:r>
                <a:r>
                  <a:rPr lang="en-GB" sz="2000" dirty="0" err="1"/>
                  <a:t>kết</a:t>
                </a:r>
                <a:r>
                  <a:rPr lang="en-GB" sz="2000" dirty="0"/>
                  <a:t> </a:t>
                </a:r>
                <a:r>
                  <a:rPr lang="en-GB" sz="2000" dirty="0" err="1"/>
                  <a:t>cặp</a:t>
                </a:r>
                <a:r>
                  <a:rPr lang="en-GB" sz="2000" dirty="0"/>
                  <a:t> BS, </a:t>
                </a:r>
                <a:r>
                  <a:rPr lang="en-GB" sz="2000" dirty="0" err="1"/>
                  <a:t>dùng</a:t>
                </a:r>
                <a:r>
                  <a:rPr lang="en-GB" sz="2000" dirty="0"/>
                  <a:t> </a:t>
                </a:r>
                <a:r>
                  <a:rPr lang="en-GB" sz="2000" dirty="0" err="1"/>
                  <a:t>để</a:t>
                </a:r>
                <a:r>
                  <a:rPr lang="en-GB" sz="2000" dirty="0"/>
                  <a:t> null </a:t>
                </a:r>
                <a:r>
                  <a:rPr lang="en-GB" sz="2000" dirty="0" err="1"/>
                  <a:t>nhiễu</a:t>
                </a:r>
                <a:r>
                  <a:rPr lang="en-GB" sz="2000" dirty="0"/>
                  <a:t>.</a:t>
                </a:r>
              </a:p>
              <a:p>
                <a:pPr lvl="0"/>
                <a:r>
                  <a:rPr lang="en-GB" sz="2000" b="1" dirty="0"/>
                  <a:t>Decentralized cooperation</a:t>
                </a:r>
                <a:r>
                  <a:rPr lang="en-GB" sz="2000" dirty="0"/>
                  <a:t> (coherent/non-coherent): </a:t>
                </a:r>
                <a:r>
                  <a:rPr lang="en-GB" sz="2000" dirty="0" err="1"/>
                  <a:t>cụm</a:t>
                </a:r>
                <a:r>
                  <a:rPr lang="en-GB" sz="2000" dirty="0"/>
                  <a:t> BS </a:t>
                </a:r>
                <a:r>
                  <a:rPr lang="en-GB" sz="2000" dirty="0" err="1"/>
                  <a:t>lân</a:t>
                </a:r>
                <a:r>
                  <a:rPr lang="en-GB" sz="2000" dirty="0"/>
                  <a:t> </a:t>
                </a:r>
                <a:r>
                  <a:rPr lang="en-GB" sz="2000" dirty="0" err="1"/>
                  <a:t>cận</a:t>
                </a:r>
                <a:r>
                  <a:rPr lang="en-GB" sz="2000" dirty="0"/>
                  <a:t> chia </a:t>
                </a:r>
                <a:r>
                  <a:rPr lang="en-GB" sz="2000" dirty="0" err="1"/>
                  <a:t>sẻ</a:t>
                </a:r>
                <a:r>
                  <a:rPr lang="en-GB" sz="2000" dirty="0"/>
                  <a:t> echo/CSI </a:t>
                </a:r>
                <a:r>
                  <a:rPr lang="en-GB" sz="2000" dirty="0" err="1"/>
                  <a:t>thô</a:t>
                </a:r>
                <a:r>
                  <a:rPr lang="en-GB" sz="2000" dirty="0"/>
                  <a:t>.</a:t>
                </a:r>
              </a:p>
              <a:p>
                <a:pPr lvl="0"/>
                <a:r>
                  <a:rPr lang="en-GB" sz="2000" b="1" dirty="0"/>
                  <a:t>Centralized cooperation</a:t>
                </a:r>
                <a:r>
                  <a:rPr lang="en-GB" sz="2000" dirty="0"/>
                  <a:t>: </a:t>
                </a:r>
                <a:r>
                  <a:rPr lang="en-GB" sz="2000" dirty="0" err="1"/>
                  <a:t>một</a:t>
                </a:r>
                <a:r>
                  <a:rPr lang="en-GB" sz="2000" dirty="0"/>
                  <a:t> fusion </a:t>
                </a:r>
                <a:r>
                  <a:rPr lang="en-GB" sz="2000" dirty="0" err="1"/>
                  <a:t>center</a:t>
                </a:r>
                <a:r>
                  <a:rPr lang="en-GB" sz="2000" dirty="0"/>
                  <a:t> </a:t>
                </a:r>
                <a:r>
                  <a:rPr lang="en-GB" sz="2000" dirty="0" err="1"/>
                  <a:t>tổng</a:t>
                </a:r>
                <a:r>
                  <a:rPr lang="en-GB" sz="2000" dirty="0"/>
                  <a:t> </a:t>
                </a:r>
                <a:r>
                  <a:rPr lang="en-GB" sz="2000" dirty="0" err="1"/>
                  <a:t>hợp</a:t>
                </a:r>
                <a:r>
                  <a:rPr lang="en-GB" sz="2000" dirty="0"/>
                  <a:t> </a:t>
                </a:r>
                <a:r>
                  <a:rPr lang="en-GB" sz="2000" dirty="0" err="1"/>
                  <a:t>toàn</a:t>
                </a:r>
                <a:r>
                  <a:rPr lang="en-GB" sz="2000" dirty="0"/>
                  <a:t> </a:t>
                </a:r>
                <a:r>
                  <a:rPr lang="en-GB" sz="2000" dirty="0" err="1"/>
                  <a:t>bộ</a:t>
                </a:r>
                <a:r>
                  <a:rPr lang="en-GB" sz="2000" dirty="0"/>
                  <a:t> CSI </a:t>
                </a:r>
                <a:r>
                  <a:rPr lang="en-GB" sz="2000" dirty="0" err="1"/>
                  <a:t>và</a:t>
                </a:r>
                <a:r>
                  <a:rPr lang="en-GB" sz="2000" dirty="0"/>
                  <a:t> </a:t>
                </a:r>
                <a:r>
                  <a:rPr lang="en-GB" sz="2000" dirty="0" err="1"/>
                  <a:t>dữ</a:t>
                </a:r>
                <a:r>
                  <a:rPr lang="en-GB" sz="2000" dirty="0"/>
                  <a:t> </a:t>
                </a:r>
                <a:r>
                  <a:rPr lang="en-GB" sz="2000" dirty="0" err="1"/>
                  <a:t>liệu</a:t>
                </a:r>
                <a:r>
                  <a:rPr lang="en-GB" sz="2000" dirty="0"/>
                  <a:t> — </a:t>
                </a:r>
                <a:r>
                  <a:rPr lang="en-GB" sz="2000" dirty="0" err="1"/>
                  <a:t>hiệu</a:t>
                </a:r>
                <a:r>
                  <a:rPr lang="en-GB" sz="2000" dirty="0"/>
                  <a:t> </a:t>
                </a:r>
                <a:r>
                  <a:rPr lang="en-GB" sz="2000" dirty="0" err="1"/>
                  <a:t>năng</a:t>
                </a:r>
                <a:r>
                  <a:rPr lang="en-GB" sz="2000" dirty="0"/>
                  <a:t> </a:t>
                </a:r>
                <a:r>
                  <a:rPr lang="en-GB" sz="2000" dirty="0" err="1"/>
                  <a:t>tối</a:t>
                </a:r>
                <a:r>
                  <a:rPr lang="en-GB" sz="2000" dirty="0"/>
                  <a:t> </a:t>
                </a:r>
                <a:r>
                  <a:rPr lang="en-GB" sz="2000" dirty="0" err="1"/>
                  <a:t>ưu</a:t>
                </a:r>
                <a:r>
                  <a:rPr lang="en-GB" sz="2000" dirty="0"/>
                  <a:t> </a:t>
                </a:r>
                <a:r>
                  <a:rPr lang="en-GB" sz="2000" dirty="0" err="1"/>
                  <a:t>nhưng</a:t>
                </a:r>
                <a:r>
                  <a:rPr lang="en-GB" sz="2000" dirty="0"/>
                  <a:t> overhead </a:t>
                </a:r>
                <a:r>
                  <a:rPr lang="en-GB" sz="2000" dirty="0" err="1"/>
                  <a:t>cực</a:t>
                </a:r>
                <a:r>
                  <a:rPr lang="en-GB" sz="2000" dirty="0"/>
                  <a:t> </a:t>
                </a:r>
                <a:r>
                  <a:rPr lang="en-GB" sz="2000" dirty="0" err="1"/>
                  <a:t>lớn</a:t>
                </a:r>
                <a:r>
                  <a:rPr lang="en-GB" sz="2000" dirty="0"/>
                  <a:t>.</a:t>
                </a:r>
              </a:p>
              <a:p>
                <a:pPr marL="228600" lvl="0" indent="-5080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None/>
                </a:pPr>
                <a:endParaRPr dirty="0"/>
              </a:p>
            </p:txBody>
          </p:sp>
        </mc:Choice>
        <mc:Fallback>
          <p:sp>
            <p:nvSpPr>
              <p:cNvPr id="116" name="Google Shape;116;p6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37539" y="1032510"/>
                <a:ext cx="11515725" cy="4938713"/>
              </a:xfrm>
              <a:prstGeom prst="rect">
                <a:avLst/>
              </a:prstGeom>
              <a:blipFill>
                <a:blip r:embed="rId3"/>
                <a:stretch>
                  <a:fillRect l="-529" r="-190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Google Shape;117;p6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99ACD3E7-0302-AE2C-2B59-9C9963DDF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>
            <a:extLst>
              <a:ext uri="{FF2B5EF4-FFF2-40B4-BE49-F238E27FC236}">
                <a16:creationId xmlns:a16="http://schemas.microsoft.com/office/drawing/2014/main" id="{89C9E09F-9CCA-6D01-A270-C0B46DFA05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vi-VN" dirty="0"/>
              <a:t>2. Mô hình tín hiệu phát tại node n</a:t>
            </a:r>
            <a:endParaRPr dirty="0"/>
          </a:p>
        </p:txBody>
      </p:sp>
      <p:sp>
        <p:nvSpPr>
          <p:cNvPr id="138" name="Google Shape;138;p9">
            <a:extLst>
              <a:ext uri="{FF2B5EF4-FFF2-40B4-BE49-F238E27FC236}">
                <a16:creationId xmlns:a16="http://schemas.microsoft.com/office/drawing/2014/main" id="{70E7B6ED-9B77-178F-1BE5-CB6B25A311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139" name="Google Shape;139;p9">
            <a:extLst>
              <a:ext uri="{FF2B5EF4-FFF2-40B4-BE49-F238E27FC236}">
                <a16:creationId xmlns:a16="http://schemas.microsoft.com/office/drawing/2014/main" id="{FE5F7214-D3E2-43D6-7A7E-F2E5F90A20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617CCA-6325-6E98-DB8B-FAB6143AC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2138" y="1691309"/>
            <a:ext cx="4744112" cy="7430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07791F-E205-C0FC-547C-6F04D7AA2C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9598" y="2844800"/>
            <a:ext cx="7769865" cy="2271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301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6428AB19-AA17-61DB-6066-D5AF83388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>
            <a:extLst>
              <a:ext uri="{FF2B5EF4-FFF2-40B4-BE49-F238E27FC236}">
                <a16:creationId xmlns:a16="http://schemas.microsoft.com/office/drawing/2014/main" id="{F606A7A1-DECC-3E34-199B-EE2FAE8D67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vi-VN" dirty="0"/>
              <a:t>2. Mô hình tín hiệu phát tại node n</a:t>
            </a:r>
            <a:endParaRPr dirty="0"/>
          </a:p>
        </p:txBody>
      </p:sp>
      <p:sp>
        <p:nvSpPr>
          <p:cNvPr id="138" name="Google Shape;138;p9">
            <a:extLst>
              <a:ext uri="{FF2B5EF4-FFF2-40B4-BE49-F238E27FC236}">
                <a16:creationId xmlns:a16="http://schemas.microsoft.com/office/drawing/2014/main" id="{E4BC9F77-DC9F-E328-AE05-81CBEF39B2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dirty="0"/>
              <a:t>Hai </a:t>
            </a:r>
            <a:r>
              <a:rPr lang="en-GB" dirty="0" err="1"/>
              <a:t>chiến</a:t>
            </a:r>
            <a:r>
              <a:rPr lang="en-GB" dirty="0"/>
              <a:t> </a:t>
            </a:r>
            <a:r>
              <a:rPr lang="en-GB" dirty="0" err="1"/>
              <a:t>lược</a:t>
            </a:r>
            <a:r>
              <a:rPr lang="en-GB" dirty="0"/>
              <a:t> </a:t>
            </a:r>
            <a:r>
              <a:rPr lang="en-GB" dirty="0" err="1"/>
              <a:t>báo</a:t>
            </a:r>
            <a:r>
              <a:rPr lang="en-GB" dirty="0"/>
              <a:t> </a:t>
            </a:r>
            <a:r>
              <a:rPr lang="en-GB" dirty="0" err="1"/>
              <a:t>hiệu</a:t>
            </a:r>
            <a:r>
              <a:rPr lang="en-GB" dirty="0"/>
              <a:t> </a:t>
            </a:r>
            <a:r>
              <a:rPr lang="en-GB" dirty="0" err="1"/>
              <a:t>chính</a:t>
            </a:r>
            <a:r>
              <a:rPr lang="en-GB" dirty="0"/>
              <a:t>:</a:t>
            </a:r>
          </a:p>
          <a:p>
            <a:pPr lvl="0"/>
            <a:r>
              <a:rPr lang="en-GB" b="1" dirty="0"/>
              <a:t>CBF (Coordinated Beamforming)</a:t>
            </a:r>
            <a:r>
              <a:rPr lang="en-GB" dirty="0"/>
              <a:t>: </a:t>
            </a:r>
            <a:r>
              <a:rPr lang="en-GB" dirty="0" err="1"/>
              <a:t>mỗi</a:t>
            </a:r>
            <a:r>
              <a:rPr lang="en-GB" dirty="0"/>
              <a:t> BS </a:t>
            </a:r>
            <a:r>
              <a:rPr lang="en-GB" dirty="0" err="1"/>
              <a:t>phục</a:t>
            </a:r>
            <a:r>
              <a:rPr lang="en-GB" dirty="0"/>
              <a:t> </a:t>
            </a:r>
            <a:r>
              <a:rPr lang="en-GB" dirty="0" err="1"/>
              <a:t>vụ</a:t>
            </a:r>
            <a:r>
              <a:rPr lang="en-GB" dirty="0"/>
              <a:t> </a:t>
            </a:r>
            <a:r>
              <a:rPr lang="en-GB" dirty="0" err="1"/>
              <a:t>tập</a:t>
            </a:r>
            <a:r>
              <a:rPr lang="en-GB" dirty="0"/>
              <a:t> user </a:t>
            </a:r>
            <a:r>
              <a:rPr lang="en-GB" dirty="0" err="1"/>
              <a:t>riêng</a:t>
            </a:r>
            <a:r>
              <a:rPr lang="en-GB" dirty="0"/>
              <a:t>, </a:t>
            </a:r>
            <a:r>
              <a:rPr lang="en-GB" dirty="0" err="1"/>
              <a:t>tín</a:t>
            </a:r>
            <a:r>
              <a:rPr lang="en-GB" dirty="0"/>
              <a:t> </a:t>
            </a:r>
            <a:r>
              <a:rPr lang="en-GB" dirty="0" err="1"/>
              <a:t>hiệu</a:t>
            </a:r>
            <a:r>
              <a:rPr lang="en-GB" dirty="0"/>
              <a:t> </a:t>
            </a:r>
            <a:r>
              <a:rPr lang="en-GB" dirty="0" err="1"/>
              <a:t>không</a:t>
            </a:r>
            <a:r>
              <a:rPr lang="en-GB" dirty="0"/>
              <a:t> </a:t>
            </a:r>
            <a:r>
              <a:rPr lang="en-GB" dirty="0" err="1"/>
              <a:t>tương</a:t>
            </a:r>
            <a:r>
              <a:rPr lang="en-GB" dirty="0"/>
              <a:t> </a:t>
            </a:r>
            <a:r>
              <a:rPr lang="en-GB" dirty="0" err="1"/>
              <a:t>quan</a:t>
            </a:r>
            <a:r>
              <a:rPr lang="en-GB" dirty="0"/>
              <a:t> </a:t>
            </a:r>
            <a:r>
              <a:rPr lang="en-GB" dirty="0" err="1"/>
              <a:t>giữa</a:t>
            </a:r>
            <a:r>
              <a:rPr lang="en-GB" dirty="0"/>
              <a:t> </a:t>
            </a:r>
            <a:r>
              <a:rPr lang="en-GB" dirty="0" err="1"/>
              <a:t>các</a:t>
            </a:r>
            <a:r>
              <a:rPr lang="en-GB" dirty="0"/>
              <a:t> node → SINR </a:t>
            </a:r>
            <a:r>
              <a:rPr lang="en-GB" dirty="0" err="1"/>
              <a:t>bị</a:t>
            </a:r>
            <a:r>
              <a:rPr lang="en-GB" dirty="0"/>
              <a:t> </a:t>
            </a:r>
            <a:r>
              <a:rPr lang="en-GB" dirty="0" err="1"/>
              <a:t>giới</a:t>
            </a:r>
            <a:r>
              <a:rPr lang="en-GB" dirty="0"/>
              <a:t> </a:t>
            </a:r>
            <a:r>
              <a:rPr lang="en-GB" dirty="0" err="1"/>
              <a:t>hạn</a:t>
            </a:r>
            <a:r>
              <a:rPr lang="en-GB" dirty="0"/>
              <a:t> </a:t>
            </a:r>
            <a:r>
              <a:rPr lang="en-GB" dirty="0" err="1"/>
              <a:t>bởi</a:t>
            </a:r>
            <a:r>
              <a:rPr lang="en-GB" dirty="0"/>
              <a:t> INI (inter-node interference).</a:t>
            </a:r>
          </a:p>
          <a:p>
            <a:pPr lvl="0"/>
            <a:r>
              <a:rPr lang="en-GB" b="1" dirty="0"/>
              <a:t>Joint transmission </a:t>
            </a:r>
            <a:r>
              <a:rPr lang="en-GB" b="1" dirty="0" err="1"/>
              <a:t>CoMP</a:t>
            </a:r>
            <a:r>
              <a:rPr lang="en-GB" dirty="0"/>
              <a:t> (coherent/non-coherent): </a:t>
            </a:r>
            <a:r>
              <a:rPr lang="en-GB" dirty="0" err="1"/>
              <a:t>nhiều</a:t>
            </a:r>
            <a:r>
              <a:rPr lang="en-GB" dirty="0"/>
              <a:t> BS </a:t>
            </a:r>
            <a:r>
              <a:rPr lang="en-GB" dirty="0" err="1"/>
              <a:t>phát</a:t>
            </a:r>
            <a:r>
              <a:rPr lang="en-GB" dirty="0"/>
              <a:t> </a:t>
            </a:r>
            <a:r>
              <a:rPr lang="en-GB" dirty="0" err="1"/>
              <a:t>cùng</a:t>
            </a:r>
            <a:r>
              <a:rPr lang="en-GB" dirty="0"/>
              <a:t> </a:t>
            </a:r>
            <a:r>
              <a:rPr lang="en-GB" dirty="0" err="1"/>
              <a:t>dữ</a:t>
            </a:r>
            <a:r>
              <a:rPr lang="en-GB" dirty="0"/>
              <a:t> </a:t>
            </a:r>
            <a:r>
              <a:rPr lang="en-GB" dirty="0" err="1"/>
              <a:t>liệu</a:t>
            </a:r>
            <a:r>
              <a:rPr lang="en-GB" dirty="0"/>
              <a:t> </a:t>
            </a:r>
            <a:r>
              <a:rPr lang="en-GB" dirty="0" err="1"/>
              <a:t>tới</a:t>
            </a:r>
            <a:r>
              <a:rPr lang="en-GB" dirty="0"/>
              <a:t> </a:t>
            </a:r>
            <a:r>
              <a:rPr lang="en-GB" dirty="0" err="1"/>
              <a:t>một</a:t>
            </a:r>
            <a:r>
              <a:rPr lang="en-GB" dirty="0"/>
              <a:t> user → </a:t>
            </a:r>
            <a:r>
              <a:rPr lang="en-GB" dirty="0" err="1"/>
              <a:t>nhiễu</a:t>
            </a:r>
            <a:r>
              <a:rPr lang="en-GB" dirty="0"/>
              <a:t> INI </a:t>
            </a:r>
            <a:r>
              <a:rPr lang="en-GB" dirty="0" err="1"/>
              <a:t>biến</a:t>
            </a:r>
            <a:r>
              <a:rPr lang="en-GB" dirty="0"/>
              <a:t> </a:t>
            </a:r>
            <a:r>
              <a:rPr lang="en-GB" dirty="0" err="1"/>
              <a:t>thành</a:t>
            </a:r>
            <a:r>
              <a:rPr lang="en-GB" dirty="0"/>
              <a:t> </a:t>
            </a:r>
            <a:r>
              <a:rPr lang="en-GB" dirty="0" err="1"/>
              <a:t>thành</a:t>
            </a:r>
            <a:r>
              <a:rPr lang="en-GB" dirty="0"/>
              <a:t> </a:t>
            </a:r>
            <a:r>
              <a:rPr lang="en-GB" dirty="0" err="1"/>
              <a:t>phần</a:t>
            </a:r>
            <a:r>
              <a:rPr lang="en-GB" dirty="0"/>
              <a:t> </a:t>
            </a:r>
            <a:r>
              <a:rPr lang="en-GB" dirty="0" err="1"/>
              <a:t>cộng</a:t>
            </a:r>
            <a:r>
              <a:rPr lang="en-GB" dirty="0"/>
              <a:t> </a:t>
            </a:r>
            <a:r>
              <a:rPr lang="en-GB" dirty="0" err="1"/>
              <a:t>hưởng</a:t>
            </a:r>
            <a:r>
              <a:rPr lang="en-GB" dirty="0"/>
              <a:t> </a:t>
            </a:r>
            <a:r>
              <a:rPr lang="en-GB" dirty="0" err="1"/>
              <a:t>tăng</a:t>
            </a:r>
            <a:r>
              <a:rPr lang="en-GB" dirty="0"/>
              <a:t> </a:t>
            </a:r>
            <a:r>
              <a:rPr lang="en-GB" dirty="0" err="1"/>
              <a:t>công</a:t>
            </a:r>
            <a:r>
              <a:rPr lang="en-GB" dirty="0"/>
              <a:t> </a:t>
            </a:r>
            <a:r>
              <a:rPr lang="en-GB" dirty="0" err="1"/>
              <a:t>suất</a:t>
            </a:r>
            <a:r>
              <a:rPr lang="en-GB" dirty="0"/>
              <a:t> </a:t>
            </a:r>
            <a:r>
              <a:rPr lang="en-GB" dirty="0" err="1"/>
              <a:t>tín</a:t>
            </a:r>
            <a:r>
              <a:rPr lang="en-GB" dirty="0"/>
              <a:t> </a:t>
            </a:r>
            <a:r>
              <a:rPr lang="en-GB" dirty="0" err="1"/>
              <a:t>hiệu</a:t>
            </a:r>
            <a:r>
              <a:rPr lang="en-GB" dirty="0"/>
              <a:t>.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139" name="Google Shape;139;p9">
            <a:extLst>
              <a:ext uri="{FF2B5EF4-FFF2-40B4-BE49-F238E27FC236}">
                <a16:creationId xmlns:a16="http://schemas.microsoft.com/office/drawing/2014/main" id="{B8397993-3F16-467E-C95A-140AF1D3F9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6767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 txBox="1"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vi-VN" dirty="0"/>
              <a:t>3. Mô hình thu (communication)  </a:t>
            </a:r>
            <a:endParaRPr dirty="0"/>
          </a:p>
        </p:txBody>
      </p:sp>
      <p:sp>
        <p:nvSpPr>
          <p:cNvPr id="125" name="Google Shape;125;p7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14C24C9-9E16-7535-F333-C39721246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05" y="1983987"/>
            <a:ext cx="6440620" cy="24712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F1B0BD7-4CD2-ED0F-296F-41634E1925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5755" y="1983988"/>
            <a:ext cx="5977509" cy="24712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7248B2A-1A83-2BF4-96D6-52EA9D6CFD27}"/>
              </a:ext>
            </a:extLst>
          </p:cNvPr>
          <p:cNvSpPr txBox="1"/>
          <p:nvPr/>
        </p:nvSpPr>
        <p:spPr>
          <a:xfrm>
            <a:off x="98105" y="1318660"/>
            <a:ext cx="30412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400" dirty="0"/>
              <a:t>CBF ( k user 1 node)</a:t>
            </a:r>
            <a:endParaRPr lang="en-GB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4CD7FB-C045-B850-3954-25B8CDB7A4C9}"/>
              </a:ext>
            </a:extLst>
          </p:cNvPr>
          <p:cNvSpPr txBox="1"/>
          <p:nvPr/>
        </p:nvSpPr>
        <p:spPr>
          <a:xfrm>
            <a:off x="6843811" y="1291490"/>
            <a:ext cx="5131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400" dirty="0"/>
              <a:t>Joint transmission ( các node co-op)</a:t>
            </a:r>
            <a:endParaRPr lang="en-GB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5D4FEE-2233-23C2-8A0F-F1A2E98A159B}"/>
              </a:ext>
            </a:extLst>
          </p:cNvPr>
          <p:cNvSpPr txBox="1"/>
          <p:nvPr/>
        </p:nvSpPr>
        <p:spPr>
          <a:xfrm>
            <a:off x="683393" y="4918509"/>
            <a:ext cx="5412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800" dirty="0"/>
              <a:t>Nhiễu can thiệp =&gt; </a:t>
            </a:r>
            <a:r>
              <a:rPr lang="vi-VN" sz="1800"/>
              <a:t>cần coordination node =&gt; quản lý nhiễu </a:t>
            </a:r>
            <a:endParaRPr lang="en-GB" sz="1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ED1EA7-DD75-5B5E-27DC-ABF9250B6A96}"/>
              </a:ext>
            </a:extLst>
          </p:cNvPr>
          <p:cNvSpPr txBox="1"/>
          <p:nvPr/>
        </p:nvSpPr>
        <p:spPr>
          <a:xfrm>
            <a:off x="6403971" y="4920180"/>
            <a:ext cx="5653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800" dirty="0"/>
              <a:t>Lợi dụng nhiễu giữa các node =&gt; năng cao hiệu năng</a:t>
            </a:r>
            <a:endParaRPr lang="en-GB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 txBox="1"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vi-VN" dirty="0"/>
              <a:t>3. Mô hình thu (sensing ) </a:t>
            </a:r>
            <a:endParaRPr dirty="0"/>
          </a:p>
        </p:txBody>
      </p:sp>
      <p:sp>
        <p:nvSpPr>
          <p:cNvPr id="139" name="Google Shape;139;p9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375A8B-C65E-E17F-7E49-36A449721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1752" y="931563"/>
            <a:ext cx="6427120" cy="19680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79BE50-6955-2060-190D-C8429A44451A}"/>
              </a:ext>
            </a:extLst>
          </p:cNvPr>
          <p:cNvSpPr txBox="1"/>
          <p:nvPr/>
        </p:nvSpPr>
        <p:spPr>
          <a:xfrm>
            <a:off x="3628723" y="2913200"/>
            <a:ext cx="4211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800" dirty="0"/>
              <a:t>Nhiễu giữa các node và nhiễu bản thân</a:t>
            </a:r>
            <a:endParaRPr lang="en-GB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F57860-6EAF-7870-A390-B70619C91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904" y="-1"/>
            <a:ext cx="7743095" cy="434166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2BE0E95-DEB6-3E75-BBBC-A550F496B6EB}"/>
                  </a:ext>
                </a:extLst>
              </p:cNvPr>
              <p:cNvSpPr txBox="1"/>
              <p:nvPr/>
            </p:nvSpPr>
            <p:spPr>
              <a:xfrm>
                <a:off x="5082139" y="4844534"/>
                <a:ext cx="6718434" cy="781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 err="1"/>
                  <a:t>cấu</a:t>
                </a:r>
                <a:r>
                  <a:rPr lang="en-GB" sz="2000" dirty="0"/>
                  <a:t> </a:t>
                </a:r>
                <a:r>
                  <a:rPr lang="en-GB" sz="2000" dirty="0" err="1"/>
                  <a:t>hình</a:t>
                </a:r>
                <a:r>
                  <a:rPr lang="en-GB" sz="2000" dirty="0"/>
                  <a:t> FD (TX/RX </a:t>
                </a:r>
                <a:r>
                  <a:rPr lang="en-GB" sz="2000" dirty="0" err="1"/>
                  <a:t>đồng</a:t>
                </a:r>
                <a:r>
                  <a:rPr lang="en-GB" sz="2000" dirty="0"/>
                  <a:t> </a:t>
                </a:r>
                <a:r>
                  <a:rPr lang="en-GB" sz="2000" dirty="0" err="1"/>
                  <a:t>vị</a:t>
                </a:r>
                <a:r>
                  <a:rPr lang="en-GB" sz="2000" dirty="0"/>
                  <a:t> </a:t>
                </a:r>
                <a:r>
                  <a:rPr lang="en-GB" sz="2000" dirty="0" err="1"/>
                  <a:t>trí</a:t>
                </a:r>
                <a:r>
                  <a:rPr lang="en-GB" sz="2000" dirty="0"/>
                  <a:t>), </a:t>
                </a:r>
                <a:r>
                  <a:rPr lang="en-GB" sz="2000" dirty="0" err="1"/>
                  <a:t>mảng</a:t>
                </a:r>
                <a:r>
                  <a:rPr lang="en-GB" sz="2000" dirty="0"/>
                  <a:t> </a:t>
                </a:r>
                <a:r>
                  <a:rPr lang="en-GB" sz="2000" dirty="0" err="1"/>
                  <a:t>anten</a:t>
                </a:r>
                <a:r>
                  <a:rPr lang="en-GB" sz="2000" dirty="0"/>
                  <a:t> </a:t>
                </a:r>
                <a:r>
                  <a:rPr lang="en-GB" sz="2000" dirty="0" err="1"/>
                  <a:t>thu</a:t>
                </a:r>
                <a:r>
                  <a:rPr lang="en-GB" sz="2000" dirty="0"/>
                  <a:t> </a:t>
                </a:r>
                <a:r>
                  <a:rPr lang="en-GB" sz="2000" dirty="0" err="1"/>
                  <a:t>này</a:t>
                </a:r>
                <a:r>
                  <a:rPr lang="en-GB" sz="2000" dirty="0"/>
                  <a:t> </a:t>
                </a:r>
                <a:r>
                  <a:rPr lang="en-GB" sz="2000" dirty="0" err="1"/>
                  <a:t>còn</a:t>
                </a:r>
                <a:r>
                  <a:rPr lang="en-GB" sz="2000" dirty="0"/>
                  <a:t> </a:t>
                </a:r>
                <a:r>
                  <a:rPr lang="en-GB" sz="2000" dirty="0" err="1"/>
                  <a:t>phải</a:t>
                </a:r>
                <a:r>
                  <a:rPr lang="en-GB" sz="2000" dirty="0"/>
                  <a:t> </a:t>
                </a:r>
                <a:r>
                  <a:rPr lang="en-GB" sz="2000" dirty="0" err="1"/>
                  <a:t>xử</a:t>
                </a:r>
                <a:r>
                  <a:rPr lang="en-GB" sz="2000" dirty="0"/>
                  <a:t> </a:t>
                </a:r>
                <a:r>
                  <a:rPr lang="en-GB" sz="2000" dirty="0" err="1"/>
                  <a:t>lý</a:t>
                </a:r>
                <a:r>
                  <a:rPr lang="en-GB" sz="2000" dirty="0"/>
                  <a:t> </a:t>
                </a:r>
                <a:r>
                  <a:rPr lang="en-GB" sz="2000" b="1" dirty="0" err="1"/>
                  <a:t>tự</a:t>
                </a:r>
                <a:r>
                  <a:rPr lang="en-GB" sz="2000" b="1" dirty="0"/>
                  <a:t> </a:t>
                </a:r>
                <a:r>
                  <a:rPr lang="en-GB" sz="2000" b="1" dirty="0" err="1"/>
                  <a:t>nhiễu</a:t>
                </a:r>
                <a:r>
                  <a:rPr lang="en-GB" sz="2000" b="1" dirty="0"/>
                  <a:t> SI</a:t>
                </a:r>
                <a:r>
                  <a:rPr lang="en-GB" sz="20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1"/>
                        </m:ctrlPr>
                      </m:sSubPr>
                      <m:e>
                        <m:r>
                          <a:rPr lang="en-GB" sz="2000" b="1"/>
                          <m:t>𝐘</m:t>
                        </m:r>
                      </m:e>
                      <m:sub>
                        <m:r>
                          <m:rPr>
                            <m:nor/>
                          </m:rPr>
                          <a:rPr lang="en-GB" sz="2000"/>
                          <m:t>SI</m:t>
                        </m:r>
                        <m:r>
                          <a:rPr lang="en-GB" sz="2000"/>
                          <m:t>,</m:t>
                        </m:r>
                        <m:r>
                          <a:rPr lang="en-GB" sz="2000" i="1"/>
                          <m:t>𝑛</m:t>
                        </m:r>
                      </m:sub>
                    </m:sSub>
                    <m:r>
                      <a:rPr lang="en-GB" sz="2000"/>
                      <m:t>=</m:t>
                    </m:r>
                    <m:sSubSup>
                      <m:sSubSupPr>
                        <m:ctrlPr>
                          <a:rPr lang="en-GB" sz="2000" b="1"/>
                        </m:ctrlPr>
                      </m:sSubSupPr>
                      <m:e>
                        <m:r>
                          <a:rPr lang="en-GB" sz="2000" b="1"/>
                          <m:t>𝐇</m:t>
                        </m:r>
                      </m:e>
                      <m:sub>
                        <m:r>
                          <a:rPr lang="en-GB" sz="2000" i="1"/>
                          <m:t>𝑆𝐼</m:t>
                        </m:r>
                        <m:r>
                          <a:rPr lang="en-GB" sz="2000"/>
                          <m:t>,</m:t>
                        </m:r>
                        <m:r>
                          <a:rPr lang="en-GB" sz="2000" i="1"/>
                          <m:t>𝑛</m:t>
                        </m:r>
                      </m:sub>
                      <m:sup>
                        <m:r>
                          <a:rPr lang="en-GB" sz="2000" i="1"/>
                          <m:t>𝐻</m:t>
                        </m:r>
                      </m:sup>
                    </m:sSubSup>
                    <m:sSub>
                      <m:sSubPr>
                        <m:ctrlPr>
                          <a:rPr lang="en-GB" sz="2000" b="1"/>
                        </m:ctrlPr>
                      </m:sSubPr>
                      <m:e>
                        <m:r>
                          <a:rPr lang="en-GB" sz="2000" b="1"/>
                          <m:t>𝐗</m:t>
                        </m:r>
                      </m:e>
                      <m:sub>
                        <m:r>
                          <a:rPr lang="en-GB" sz="2000" i="1"/>
                          <m:t>𝑛</m:t>
                        </m:r>
                      </m:sub>
                    </m:sSub>
                  </m:oMath>
                </a14:m>
                <a:r>
                  <a:rPr lang="en-GB" sz="2000" dirty="0" err="1">
                    <a:effectLst/>
                  </a:rPr>
                  <a:t>YSI,n</a:t>
                </a:r>
                <a:r>
                  <a:rPr lang="en-GB" sz="2000" dirty="0"/>
                  <a:t>​=</a:t>
                </a:r>
                <a:r>
                  <a:rPr lang="en-GB" sz="2000" dirty="0" err="1"/>
                  <a:t>H</a:t>
                </a:r>
                <a:r>
                  <a:rPr lang="en-GB" sz="2000" dirty="0" err="1">
                    <a:effectLst/>
                  </a:rPr>
                  <a:t>SI,nH</a:t>
                </a:r>
                <a:r>
                  <a:rPr lang="en-GB" sz="2000" dirty="0"/>
                  <a:t>​</a:t>
                </a:r>
                <a:r>
                  <a:rPr lang="en-GB" sz="2000" dirty="0" err="1"/>
                  <a:t>X</a:t>
                </a:r>
                <a:r>
                  <a:rPr lang="en-GB" sz="2000" dirty="0" err="1">
                    <a:effectLst/>
                  </a:rPr>
                  <a:t>n</a:t>
                </a:r>
                <a:r>
                  <a:rPr lang="en-GB" sz="2000" dirty="0"/>
                  <a:t>​) 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2BE0E95-DEB6-3E75-BBBC-A550F496B6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2139" y="4844534"/>
                <a:ext cx="6718434" cy="781945"/>
              </a:xfrm>
              <a:prstGeom prst="rect">
                <a:avLst/>
              </a:prstGeom>
              <a:blipFill>
                <a:blip r:embed="rId4"/>
                <a:stretch>
                  <a:fillRect l="-998" t="-3906" b="-6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1CCC2024-1B1E-A58D-155B-999C1A027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>
            <a:extLst>
              <a:ext uri="{FF2B5EF4-FFF2-40B4-BE49-F238E27FC236}">
                <a16:creationId xmlns:a16="http://schemas.microsoft.com/office/drawing/2014/main" id="{F9AFA8F2-5EC2-652B-B8F3-CEE78A78BC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vi-VN" dirty="0"/>
              <a:t>4</a:t>
            </a:r>
            <a:r>
              <a:rPr lang="en-GB" dirty="0"/>
              <a:t>. </a:t>
            </a:r>
            <a:r>
              <a:rPr lang="en-GB" dirty="0" err="1"/>
              <a:t>Chỉ</a:t>
            </a:r>
            <a:r>
              <a:rPr lang="en-GB" dirty="0"/>
              <a:t> </a:t>
            </a:r>
            <a:r>
              <a:rPr lang="en-GB" dirty="0" err="1"/>
              <a:t>tiêu</a:t>
            </a:r>
            <a:r>
              <a:rPr lang="en-GB" dirty="0"/>
              <a:t> QoS </a:t>
            </a:r>
            <a:r>
              <a:rPr lang="en-GB" dirty="0" err="1"/>
              <a:t>phía</a:t>
            </a:r>
            <a:r>
              <a:rPr lang="en-GB" dirty="0"/>
              <a:t> </a:t>
            </a:r>
            <a:r>
              <a:rPr lang="en-GB" dirty="0" err="1"/>
              <a:t>truyền</a:t>
            </a:r>
            <a:r>
              <a:rPr lang="en-GB" dirty="0"/>
              <a:t> </a:t>
            </a:r>
            <a:r>
              <a:rPr lang="en-GB" dirty="0" err="1"/>
              <a:t>thông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8" name="Google Shape;138;p9">
                <a:extLst>
                  <a:ext uri="{FF2B5EF4-FFF2-40B4-BE49-F238E27FC236}">
                    <a16:creationId xmlns:a16="http://schemas.microsoft.com/office/drawing/2014/main" id="{1C525570-6F74-36E4-13C6-9F424B9352CE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37539" y="1032510"/>
                <a:ext cx="11515725" cy="49387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r>
                  <a:rPr lang="en-GB" sz="3200" dirty="0" err="1"/>
                  <a:t>Với</a:t>
                </a:r>
                <a:r>
                  <a:rPr lang="en-GB" sz="3200" dirty="0"/>
                  <a:t> user k, </a:t>
                </a:r>
                <a:r>
                  <a:rPr lang="en-GB" sz="3200" dirty="0" err="1"/>
                  <a:t>ràng</a:t>
                </a:r>
                <a:r>
                  <a:rPr lang="en-GB" sz="3200" dirty="0"/>
                  <a:t> </a:t>
                </a:r>
                <a:r>
                  <a:rPr lang="en-GB" sz="3200" dirty="0" err="1"/>
                  <a:t>buộc</a:t>
                </a:r>
                <a:r>
                  <a:rPr lang="en-GB" sz="3200" dirty="0"/>
                  <a:t> QoS </a:t>
                </a:r>
                <a:r>
                  <a:rPr lang="en-GB" sz="3200" dirty="0" err="1"/>
                  <a:t>thường</a:t>
                </a:r>
                <a:r>
                  <a:rPr lang="en-GB" sz="3200" dirty="0"/>
                  <a:t> </a:t>
                </a:r>
                <a:r>
                  <a:rPr lang="en-GB" sz="3200" dirty="0" err="1"/>
                  <a:t>được</a:t>
                </a:r>
                <a:r>
                  <a:rPr lang="en-GB" sz="3200" dirty="0"/>
                  <a:t> </a:t>
                </a:r>
                <a:r>
                  <a:rPr lang="en-GB" sz="3200" dirty="0" err="1"/>
                  <a:t>biểu</a:t>
                </a:r>
                <a:r>
                  <a:rPr lang="en-GB" sz="3200" dirty="0"/>
                  <a:t> </a:t>
                </a:r>
                <a:r>
                  <a:rPr lang="en-GB" sz="3200" dirty="0" err="1"/>
                  <a:t>diễn</a:t>
                </a:r>
                <a:r>
                  <a:rPr lang="en-GB" sz="3200" dirty="0"/>
                  <a:t> </a:t>
                </a:r>
                <a:r>
                  <a:rPr lang="en-GB" sz="3200" dirty="0" err="1"/>
                  <a:t>bằng</a:t>
                </a:r>
                <a:r>
                  <a:rPr lang="en-GB" sz="3200" dirty="0"/>
                  <a:t> SINR threshold: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/>
                        </m:ctrlPr>
                      </m:sSubPr>
                      <m:e>
                        <m:r>
                          <a:rPr lang="en-GB" sz="2400" i="1"/>
                          <m:t>𝑃</m:t>
                        </m:r>
                      </m:e>
                      <m:sub>
                        <m:r>
                          <a:rPr lang="en-GB" sz="2400" i="1"/>
                          <m:t>𝑐</m:t>
                        </m:r>
                      </m:sub>
                    </m:sSub>
                    <m:r>
                      <a:rPr lang="en-GB" sz="2400"/>
                      <m:t>=</m:t>
                    </m:r>
                    <m:r>
                      <m:rPr>
                        <m:sty m:val="p"/>
                      </m:rPr>
                      <a:rPr lang="en-GB" sz="2400"/>
                      <m:t>Pr</m:t>
                    </m:r>
                    <m:r>
                      <a:rPr lang="en-GB" sz="2400"/>
                      <m:t>⁡</m:t>
                    </m:r>
                    <m:d>
                      <m:dPr>
                        <m:begChr m:val="["/>
                        <m:endChr m:val="]"/>
                        <m:ctrlPr>
                          <a:rPr lang="en-GB" sz="2400" i="1"/>
                        </m:ctrlPr>
                      </m:dPr>
                      <m:e>
                        <m:sSub>
                          <m:sSubPr>
                            <m:ctrlPr>
                              <a:rPr lang="en-GB" sz="2400"/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GB" sz="2400"/>
                              <m:t>SINR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GB" sz="2400"/>
                              <m:t>com</m:t>
                            </m:r>
                          </m:sub>
                        </m:sSub>
                        <m:r>
                          <a:rPr lang="en-GB" sz="2400"/>
                          <m:t>&gt;</m:t>
                        </m:r>
                        <m:sSub>
                          <m:sSubPr>
                            <m:ctrlPr>
                              <a:rPr lang="en-GB" sz="2400" i="1"/>
                            </m:ctrlPr>
                          </m:sSubPr>
                          <m:e>
                            <m:r>
                              <a:rPr lang="en-GB" sz="2400" i="1"/>
                              <m:t>𝛾</m:t>
                            </m:r>
                          </m:e>
                          <m:sub>
                            <m:r>
                              <a:rPr lang="en-GB" sz="2400" i="1"/>
                              <m:t>𝑐</m:t>
                            </m:r>
                          </m:sub>
                        </m:sSub>
                      </m:e>
                    </m:d>
                  </m:oMath>
                </a14:m>
                <a:endParaRPr lang="en-GB" sz="2400" dirty="0"/>
              </a:p>
              <a:p>
                <a:r>
                  <a:rPr lang="en-GB" sz="2400" dirty="0"/>
                  <a:t>SINR </a:t>
                </a:r>
                <a:r>
                  <a:rPr lang="en-GB" sz="2400" dirty="0" err="1"/>
                  <a:t>cụ</a:t>
                </a:r>
                <a:r>
                  <a:rPr lang="en-GB" sz="2400" dirty="0"/>
                  <a:t> </a:t>
                </a:r>
                <a:r>
                  <a:rPr lang="en-GB" sz="2400" dirty="0" err="1"/>
                  <a:t>thể</a:t>
                </a:r>
                <a:r>
                  <a:rPr lang="en-GB" sz="2400" dirty="0"/>
                  <a:t> </a:t>
                </a:r>
                <a:r>
                  <a:rPr lang="en-GB" sz="2400" dirty="0" err="1"/>
                  <a:t>theo</a:t>
                </a:r>
                <a:r>
                  <a:rPr lang="en-GB" sz="2400" dirty="0"/>
                  <a:t> </a:t>
                </a:r>
                <a:r>
                  <a:rPr lang="en-GB" sz="2400" dirty="0" err="1"/>
                  <a:t>từng</a:t>
                </a:r>
                <a:r>
                  <a:rPr lang="en-GB" sz="2400" dirty="0"/>
                  <a:t> </a:t>
                </a:r>
                <a:r>
                  <a:rPr lang="en-GB" sz="2400" dirty="0" err="1"/>
                  <a:t>chiến</a:t>
                </a:r>
                <a:r>
                  <a:rPr lang="en-GB" sz="2400" dirty="0"/>
                  <a:t> </a:t>
                </a:r>
                <a:r>
                  <a:rPr lang="en-GB" sz="2400" dirty="0" err="1"/>
                  <a:t>lược</a:t>
                </a:r>
                <a:r>
                  <a:rPr lang="en-GB" sz="2400" dirty="0"/>
                  <a:t> (CBF, non-coherent JT, coherent JT </a:t>
                </a:r>
                <a:r>
                  <a:rPr lang="vi-VN" sz="2400" dirty="0"/>
                  <a:t>) </a:t>
                </a:r>
                <a:r>
                  <a:rPr lang="en-GB" sz="2400" dirty="0" err="1"/>
                  <a:t>đều</a:t>
                </a:r>
                <a:r>
                  <a:rPr lang="en-GB" sz="2400" dirty="0"/>
                  <a:t> </a:t>
                </a:r>
                <a:r>
                  <a:rPr lang="en-GB" sz="2400" dirty="0" err="1"/>
                  <a:t>phải</a:t>
                </a:r>
                <a:r>
                  <a:rPr lang="en-GB" sz="2400" dirty="0"/>
                  <a:t> </a:t>
                </a:r>
                <a:r>
                  <a:rPr lang="en-GB" sz="2400" dirty="0" err="1"/>
                  <a:t>thỏa</a:t>
                </a:r>
                <a:r>
                  <a:rPr lang="en-GB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/>
                        </m:ctrlPr>
                      </m:sSubPr>
                      <m:e>
                        <m:r>
                          <a:rPr lang="en-GB" sz="2400" i="1"/>
                          <m:t>𝛾</m:t>
                        </m:r>
                      </m:e>
                      <m:sub>
                        <m:r>
                          <a:rPr lang="en-GB" sz="2400" i="1"/>
                          <m:t>𝑘</m:t>
                        </m:r>
                      </m:sub>
                    </m:sSub>
                    <m:r>
                      <a:rPr lang="en-GB" sz="2400"/>
                      <m:t>≥</m:t>
                    </m:r>
                    <m:sSub>
                      <m:sSubPr>
                        <m:ctrlPr>
                          <a:rPr lang="en-GB" sz="2400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2400"/>
                          <m:t>Γ</m:t>
                        </m:r>
                      </m:e>
                      <m:sub>
                        <m:r>
                          <a:rPr lang="en-GB" sz="2400" i="1"/>
                          <m:t>𝑐</m:t>
                        </m:r>
                      </m:sub>
                    </m:sSub>
                  </m:oMath>
                </a14:m>
                <a:r>
                  <a:rPr lang="en-GB" sz="2400" dirty="0" err="1">
                    <a:effectLst/>
                  </a:rPr>
                  <a:t>γk</a:t>
                </a:r>
                <a:r>
                  <a:rPr lang="en-GB" sz="2400" dirty="0"/>
                  <a:t>​≥</a:t>
                </a:r>
                <a:r>
                  <a:rPr lang="en-GB" sz="2400" dirty="0" err="1"/>
                  <a:t>Γ</a:t>
                </a:r>
                <a:r>
                  <a:rPr lang="en-GB" sz="2400" dirty="0" err="1">
                    <a:effectLst/>
                  </a:rPr>
                  <a:t>c</a:t>
                </a:r>
                <a:r>
                  <a:rPr lang="en-GB" sz="2400" dirty="0"/>
                  <a:t>​ </a:t>
                </a:r>
                <a:r>
                  <a:rPr lang="en-GB" sz="2400" dirty="0" err="1"/>
                  <a:t>để</a:t>
                </a:r>
                <a:r>
                  <a:rPr lang="en-GB" sz="2400" dirty="0"/>
                  <a:t> </a:t>
                </a:r>
                <a:r>
                  <a:rPr lang="en-GB" sz="2400" dirty="0" err="1"/>
                  <a:t>đảm</a:t>
                </a:r>
                <a:r>
                  <a:rPr lang="en-GB" sz="2400" dirty="0"/>
                  <a:t> </a:t>
                </a:r>
                <a:r>
                  <a:rPr lang="en-GB" sz="2400" dirty="0" err="1"/>
                  <a:t>bảo</a:t>
                </a:r>
                <a:r>
                  <a:rPr lang="en-GB" sz="2400" dirty="0"/>
                  <a:t> QoS communication.</a:t>
                </a:r>
              </a:p>
              <a:p>
                <a:pPr marL="228600" lvl="0" indent="-5080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None/>
                </a:pPr>
                <a:endParaRPr dirty="0"/>
              </a:p>
            </p:txBody>
          </p:sp>
        </mc:Choice>
        <mc:Fallback>
          <p:sp>
            <p:nvSpPr>
              <p:cNvPr id="138" name="Google Shape;138;p9">
                <a:extLst>
                  <a:ext uri="{FF2B5EF4-FFF2-40B4-BE49-F238E27FC236}">
                    <a16:creationId xmlns:a16="http://schemas.microsoft.com/office/drawing/2014/main" id="{1C525570-6F74-36E4-13C6-9F424B9352C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37539" y="1032510"/>
                <a:ext cx="11515725" cy="4938713"/>
              </a:xfrm>
              <a:prstGeom prst="rect">
                <a:avLst/>
              </a:prstGeom>
              <a:blipFill>
                <a:blip r:embed="rId3"/>
                <a:stretch>
                  <a:fillRect l="-529" r="-18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Google Shape;139;p9">
            <a:extLst>
              <a:ext uri="{FF2B5EF4-FFF2-40B4-BE49-F238E27FC236}">
                <a16:creationId xmlns:a16="http://schemas.microsoft.com/office/drawing/2014/main" id="{E1A35749-B796-CDFC-F4D1-F1AB3E33E72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7112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vi-VN" dirty="0"/>
              <a:t>5</a:t>
            </a:r>
            <a:r>
              <a:rPr lang="en-GB" dirty="0"/>
              <a:t>. </a:t>
            </a:r>
            <a:r>
              <a:rPr lang="en-GB" dirty="0" err="1"/>
              <a:t>Chỉ</a:t>
            </a:r>
            <a:r>
              <a:rPr lang="en-GB" dirty="0"/>
              <a:t> </a:t>
            </a:r>
            <a:r>
              <a:rPr lang="en-GB" dirty="0" err="1"/>
              <a:t>tiêu</a:t>
            </a:r>
            <a:r>
              <a:rPr lang="en-GB" dirty="0"/>
              <a:t> QoS </a:t>
            </a:r>
            <a:r>
              <a:rPr lang="en-GB" dirty="0" err="1"/>
              <a:t>phía</a:t>
            </a:r>
            <a:r>
              <a:rPr lang="en-GB" dirty="0"/>
              <a:t> sensing</a:t>
            </a:r>
            <a:endParaRPr dirty="0"/>
          </a:p>
        </p:txBody>
      </p:sp>
      <p:sp>
        <p:nvSpPr>
          <p:cNvPr id="110" name="Google Shape;110;p5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CE6D0B-C09F-3AD9-8670-080B50038135}"/>
              </a:ext>
            </a:extLst>
          </p:cNvPr>
          <p:cNvSpPr txBox="1"/>
          <p:nvPr/>
        </p:nvSpPr>
        <p:spPr>
          <a:xfrm>
            <a:off x="1185911" y="1334731"/>
            <a:ext cx="1034515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Thay </a:t>
            </a:r>
            <a:r>
              <a:rPr lang="en-GB" sz="2000" dirty="0" err="1"/>
              <a:t>vì</a:t>
            </a:r>
            <a:r>
              <a:rPr lang="en-GB" sz="2000" dirty="0"/>
              <a:t> SINR, sensing </a:t>
            </a:r>
            <a:r>
              <a:rPr lang="en-GB" sz="2000" dirty="0" err="1"/>
              <a:t>dùng</a:t>
            </a:r>
            <a:r>
              <a:rPr lang="en-GB" sz="2000" dirty="0"/>
              <a:t> </a:t>
            </a:r>
            <a:r>
              <a:rPr lang="en-GB" sz="2000" b="1" dirty="0"/>
              <a:t>CRLB</a:t>
            </a:r>
            <a:r>
              <a:rPr lang="en-GB" sz="2000" dirty="0"/>
              <a:t> (Cramér-Rao Lower Bound) </a:t>
            </a:r>
            <a:r>
              <a:rPr lang="en-GB" sz="2000" dirty="0" err="1"/>
              <a:t>làm</a:t>
            </a:r>
            <a:r>
              <a:rPr lang="en-GB" sz="2000" dirty="0"/>
              <a:t> </a:t>
            </a:r>
            <a:r>
              <a:rPr lang="en-GB" sz="2000" dirty="0" err="1"/>
              <a:t>chỉ</a:t>
            </a:r>
            <a:r>
              <a:rPr lang="en-GB" sz="2000" dirty="0"/>
              <a:t> </a:t>
            </a:r>
            <a:r>
              <a:rPr lang="en-GB" sz="2000" dirty="0" err="1"/>
              <a:t>tiêu</a:t>
            </a:r>
            <a:r>
              <a:rPr lang="en-GB" sz="2000" dirty="0"/>
              <a:t> </a:t>
            </a:r>
            <a:r>
              <a:rPr lang="en-GB" sz="2000" dirty="0" err="1"/>
              <a:t>chất</a:t>
            </a:r>
            <a:r>
              <a:rPr lang="en-GB" sz="2000" dirty="0"/>
              <a:t> </a:t>
            </a:r>
            <a:r>
              <a:rPr lang="en-GB" sz="2000" dirty="0" err="1"/>
              <a:t>lượng</a:t>
            </a:r>
            <a:r>
              <a:rPr lang="en-GB" sz="2000" dirty="0"/>
              <a:t> </a:t>
            </a:r>
            <a:r>
              <a:rPr lang="en-GB" sz="2000" dirty="0" err="1"/>
              <a:t>định</a:t>
            </a:r>
            <a:r>
              <a:rPr lang="en-GB" sz="2000" dirty="0"/>
              <a:t> </a:t>
            </a:r>
            <a:r>
              <a:rPr lang="en-GB" sz="2000" dirty="0" err="1"/>
              <a:t>vị</a:t>
            </a:r>
            <a:r>
              <a:rPr lang="en-GB" sz="2000" dirty="0"/>
              <a:t> — </a:t>
            </a:r>
            <a:r>
              <a:rPr lang="en-GB" sz="2000" dirty="0" err="1"/>
              <a:t>càng</a:t>
            </a:r>
            <a:r>
              <a:rPr lang="en-GB" sz="2000" dirty="0"/>
              <a:t> </a:t>
            </a:r>
            <a:r>
              <a:rPr lang="en-GB" sz="2000" dirty="0" err="1"/>
              <a:t>nhỏ</a:t>
            </a:r>
            <a:r>
              <a:rPr lang="en-GB" sz="2000" dirty="0"/>
              <a:t> </a:t>
            </a:r>
            <a:r>
              <a:rPr lang="en-GB" sz="2000" dirty="0" err="1"/>
              <a:t>càng</a:t>
            </a:r>
            <a:r>
              <a:rPr lang="en-GB" sz="2000" dirty="0"/>
              <a:t> </a:t>
            </a:r>
            <a:r>
              <a:rPr lang="en-GB" sz="2000" dirty="0" err="1"/>
              <a:t>tốt</a:t>
            </a:r>
            <a:r>
              <a:rPr lang="en-GB" sz="2000" dirty="0"/>
              <a:t>. Ba </a:t>
            </a:r>
            <a:r>
              <a:rPr lang="en-GB" sz="2000" dirty="0" err="1"/>
              <a:t>phương</a:t>
            </a:r>
            <a:r>
              <a:rPr lang="en-GB" sz="2000" dirty="0"/>
              <a:t> </a:t>
            </a:r>
            <a:r>
              <a:rPr lang="en-GB" sz="2000" dirty="0" err="1"/>
              <a:t>pháp</a:t>
            </a:r>
            <a:r>
              <a:rPr lang="en-GB" sz="2000" dirty="0"/>
              <a:t> AOA/TOF/Hybrid </a:t>
            </a:r>
            <a:r>
              <a:rPr lang="en-GB" sz="2000" dirty="0" err="1"/>
              <a:t>có</a:t>
            </a:r>
            <a:r>
              <a:rPr lang="en-GB" sz="2000" dirty="0"/>
              <a:t> scaling law </a:t>
            </a:r>
            <a:r>
              <a:rPr lang="en-GB" sz="2000" dirty="0" err="1"/>
              <a:t>khác</a:t>
            </a:r>
            <a:r>
              <a:rPr lang="en-GB" sz="2000" dirty="0"/>
              <a:t> </a:t>
            </a:r>
            <a:r>
              <a:rPr lang="en-GB" sz="2000" dirty="0" err="1"/>
              <a:t>nhau</a:t>
            </a:r>
            <a:r>
              <a:rPr lang="en-GB" sz="2000" dirty="0"/>
              <a:t> </a:t>
            </a:r>
            <a:r>
              <a:rPr lang="en-GB" sz="2000" dirty="0" err="1"/>
              <a:t>theo</a:t>
            </a:r>
            <a:r>
              <a:rPr lang="en-GB" sz="2000" dirty="0"/>
              <a:t> </a:t>
            </a:r>
            <a:r>
              <a:rPr lang="en-GB" sz="2000" dirty="0" err="1"/>
              <a:t>mật</a:t>
            </a:r>
            <a:r>
              <a:rPr lang="en-GB" sz="2000" dirty="0"/>
              <a:t> </a:t>
            </a:r>
            <a:r>
              <a:rPr lang="en-GB" sz="2000" dirty="0" err="1"/>
              <a:t>độ</a:t>
            </a:r>
            <a:r>
              <a:rPr lang="en-GB" sz="2000" dirty="0"/>
              <a:t> BS 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4016D9-1DE2-2260-D692-A325EA68D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6992" y="2574648"/>
            <a:ext cx="6563641" cy="328658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79D3AF94-BB4D-EE42-A1E0-FDA0703D1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>
            <a:extLst>
              <a:ext uri="{FF2B5EF4-FFF2-40B4-BE49-F238E27FC236}">
                <a16:creationId xmlns:a16="http://schemas.microsoft.com/office/drawing/2014/main" id="{A5F4A98B-1F99-19FF-65EC-1EFE86FFD0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vi-VN" dirty="0"/>
              <a:t>6. </a:t>
            </a:r>
            <a:r>
              <a:rPr lang="en-GB" dirty="0" err="1"/>
              <a:t>Bài</a:t>
            </a:r>
            <a:r>
              <a:rPr lang="en-GB" dirty="0"/>
              <a:t> </a:t>
            </a:r>
            <a:r>
              <a:rPr lang="en-GB" dirty="0" err="1"/>
              <a:t>toán</a:t>
            </a:r>
            <a:r>
              <a:rPr lang="en-GB" dirty="0"/>
              <a:t> </a:t>
            </a:r>
            <a:r>
              <a:rPr lang="en-GB" dirty="0" err="1"/>
              <a:t>tối</a:t>
            </a:r>
            <a:r>
              <a:rPr lang="en-GB" dirty="0"/>
              <a:t> </a:t>
            </a:r>
            <a:r>
              <a:rPr lang="en-GB" dirty="0" err="1"/>
              <a:t>ưu</a:t>
            </a:r>
            <a:r>
              <a:rPr lang="en-GB" dirty="0"/>
              <a:t> network-level </a:t>
            </a:r>
            <a:r>
              <a:rPr lang="en-GB" dirty="0" err="1"/>
              <a:t>ràng</a:t>
            </a:r>
            <a:r>
              <a:rPr lang="en-GB" dirty="0"/>
              <a:t> </a:t>
            </a:r>
            <a:r>
              <a:rPr lang="en-GB" dirty="0" err="1"/>
              <a:t>buộc</a:t>
            </a:r>
            <a:r>
              <a:rPr lang="en-GB" dirty="0"/>
              <a:t> QoS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8" name="Google Shape;138;p9">
                <a:extLst>
                  <a:ext uri="{FF2B5EF4-FFF2-40B4-BE49-F238E27FC236}">
                    <a16:creationId xmlns:a16="http://schemas.microsoft.com/office/drawing/2014/main" id="{7F1AD2CE-04AB-0FC5-7511-0D38EC83E287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37539" y="1032510"/>
                <a:ext cx="11515725" cy="49387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r>
                  <a:rPr lang="en-GB" sz="3200" dirty="0" err="1"/>
                  <a:t>Bài</a:t>
                </a:r>
                <a:r>
                  <a:rPr lang="en-GB" sz="3200" dirty="0"/>
                  <a:t> </a:t>
                </a:r>
                <a:r>
                  <a:rPr lang="en-GB" sz="3200" dirty="0" err="1"/>
                  <a:t>báo</a:t>
                </a:r>
                <a:r>
                  <a:rPr lang="en-GB" sz="3200" dirty="0"/>
                  <a:t> </a:t>
                </a:r>
                <a:r>
                  <a:rPr lang="en-GB" sz="3200" dirty="0" err="1"/>
                  <a:t>trình</a:t>
                </a:r>
                <a:r>
                  <a:rPr lang="en-GB" sz="3200" dirty="0"/>
                  <a:t> </a:t>
                </a:r>
                <a:r>
                  <a:rPr lang="en-GB" sz="3200" dirty="0" err="1"/>
                  <a:t>bày</a:t>
                </a:r>
                <a:r>
                  <a:rPr lang="en-GB" sz="3200" dirty="0"/>
                  <a:t> </a:t>
                </a:r>
                <a:r>
                  <a:rPr lang="en-GB" sz="3200" dirty="0" err="1"/>
                  <a:t>dạng</a:t>
                </a:r>
                <a:r>
                  <a:rPr lang="en-GB" sz="3200" dirty="0"/>
                  <a:t> </a:t>
                </a:r>
                <a:r>
                  <a:rPr lang="en-GB" sz="3200" dirty="0" err="1"/>
                  <a:t>tổng</a:t>
                </a:r>
                <a:r>
                  <a:rPr lang="en-GB" sz="3200" dirty="0"/>
                  <a:t> </a:t>
                </a:r>
                <a:r>
                  <a:rPr lang="en-GB" sz="3200" dirty="0" err="1"/>
                  <a:t>quát</a:t>
                </a:r>
                <a:endParaRPr lang="vi-VN" sz="3200" dirty="0"/>
              </a:p>
              <a:p>
                <a:endParaRPr lang="en-GB" sz="3200" dirty="0"/>
              </a:p>
              <a:p>
                <a:pPr marL="50800" indent="0">
                  <a:buNone/>
                </a:pPr>
                <a14:m>
                  <m:oMathPara xmlns:m="http://schemas.openxmlformats.org/officeDocument/2006/math">
                    <m:oMath>
                      <m:limLow>
                        <m:limLowPr>
                          <m:ctrlPr>
                            <a:rPr lang="en-GB" sz="2400"/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sz="2400"/>
                            <m:t>min</m:t>
                          </m:r>
                        </m:e>
                        <m:lim>
                          <m:d>
                            <m:dPr>
                              <m:begChr m:val="{"/>
                              <m:endChr m:val="}"/>
                              <m:ctrlPr>
                                <a:rPr lang="en-GB" sz="2400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2400" i="1"/>
                                  </m:ctrlPr>
                                </m:sSubPr>
                                <m:e>
                                  <m:r>
                                    <a:rPr lang="en-GB" sz="2400" i="1"/>
                                    <m:t>𝑋</m:t>
                                  </m:r>
                                </m:e>
                                <m:sub>
                                  <m:r>
                                    <a:rPr lang="en-GB" sz="2400" i="1"/>
                                    <m:t>𝑛</m:t>
                                  </m:r>
                                </m:sub>
                              </m:sSub>
                            </m:e>
                          </m:d>
                        </m:lim>
                      </m:limLow>
                      <m:r>
                        <m:rPr>
                          <m:nor/>
                        </m:rPr>
                        <a:rPr lang="en-GB" sz="2400"/>
                        <m:t>tr</m:t>
                      </m:r>
                      <m:d>
                        <m:dPr>
                          <m:ctrlPr>
                            <a:rPr lang="en-GB" sz="2400" i="1"/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i="1"/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2400" b="1"/>
                                  </m:ctrlPr>
                                </m:dPr>
                                <m:e>
                                  <m:r>
                                    <a:rPr lang="en-GB" sz="2400" b="1"/>
                                    <m:t>𝐅</m:t>
                                  </m:r>
                                  <m:d>
                                    <m:dPr>
                                      <m:ctrlPr>
                                        <a:rPr lang="en-GB" sz="2400"/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2400"/>
                                        <m:t>Θ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GB" sz="2400"/>
                                <m:t>−1</m:t>
                              </m:r>
                            </m:sup>
                          </m:sSup>
                        </m:e>
                      </m:d>
                      <m:r>
                        <a:rPr lang="en-GB" sz="2400"/>
                        <m:t> </m:t>
                      </m:r>
                      <m:r>
                        <m:rPr>
                          <m:nor/>
                        </m:rPr>
                        <a:rPr lang="en-GB" sz="2400"/>
                        <m:t>s.t.</m:t>
                      </m:r>
                      <m:r>
                        <a:rPr lang="en-GB" sz="2400"/>
                        <m:t> </m:t>
                      </m:r>
                      <m:sSub>
                        <m:sSubPr>
                          <m:ctrlPr>
                            <a:rPr lang="en-GB" sz="2400" i="1"/>
                          </m:ctrlPr>
                        </m:sSubPr>
                        <m:e>
                          <m:r>
                            <a:rPr lang="en-GB" sz="2400" i="1"/>
                            <m:t>𝛾</m:t>
                          </m:r>
                        </m:e>
                        <m:sub>
                          <m:r>
                            <a:rPr lang="en-GB" sz="2400" i="1"/>
                            <m:t>𝑘</m:t>
                          </m:r>
                        </m:sub>
                      </m:sSub>
                      <m:r>
                        <a:rPr lang="en-GB" sz="2400"/>
                        <m:t>≥</m:t>
                      </m:r>
                      <m:sSub>
                        <m:sSubPr>
                          <m:ctrlPr>
                            <a:rPr lang="en-GB" sz="2400"/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2400"/>
                            <m:t>Γ</m:t>
                          </m:r>
                        </m:e>
                        <m:sub>
                          <m:r>
                            <a:rPr lang="en-GB" sz="2400" i="1"/>
                            <m:t>𝑐</m:t>
                          </m:r>
                        </m:sub>
                      </m:sSub>
                      <m:r>
                        <a:rPr lang="en-GB" sz="2400"/>
                        <m:t>,</m:t>
                      </m:r>
                      <m:r>
                        <m:rPr>
                          <m:nor/>
                        </m:rPr>
                        <a:rPr lang="en-GB" sz="2400"/>
                        <m:t> </m:t>
                      </m:r>
                      <m:r>
                        <a:rPr lang="en-GB" sz="2400"/>
                        <m:t>∀</m:t>
                      </m:r>
                      <m:r>
                        <a:rPr lang="en-GB" sz="2400" i="1"/>
                        <m:t>𝑘</m:t>
                      </m:r>
                      <m:r>
                        <a:rPr lang="en-GB" sz="2400"/>
                        <m:t>; </m:t>
                      </m:r>
                      <m:sSub>
                        <m:sSubPr>
                          <m:ctrlPr>
                            <a:rPr lang="en-GB" sz="2400" i="1"/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2400" b="1"/>
                                  </m:ctrlPr>
                                </m:sSubPr>
                                <m:e>
                                  <m:r>
                                    <a:rPr lang="en-GB" sz="2400" b="1"/>
                                    <m:t>𝐑</m:t>
                                  </m:r>
                                </m:e>
                                <m:sub>
                                  <m:r>
                                    <a:rPr lang="en-GB" sz="2400" i="1"/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GB" sz="2400" i="1"/>
                            <m:t>𝑚</m:t>
                          </m:r>
                          <m:r>
                            <a:rPr lang="en-GB" sz="2400"/>
                            <m:t>,</m:t>
                          </m:r>
                          <m:r>
                            <a:rPr lang="en-GB" sz="2400" i="1"/>
                            <m:t>𝑚</m:t>
                          </m:r>
                        </m:sub>
                      </m:sSub>
                      <m:r>
                        <a:rPr lang="en-GB" sz="2400"/>
                        <m:t>≤</m:t>
                      </m:r>
                      <m:sSub>
                        <m:sSubPr>
                          <m:ctrlPr>
                            <a:rPr lang="en-GB" sz="2400" i="1"/>
                          </m:ctrlPr>
                        </m:sSubPr>
                        <m:e>
                          <m:r>
                            <a:rPr lang="en-GB" sz="2400" i="1"/>
                            <m:t>𝑃</m:t>
                          </m:r>
                        </m:e>
                        <m:sub>
                          <m:r>
                            <a:rPr lang="en-GB" sz="2400" i="1"/>
                            <m:t>𝑇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  <a:p>
                <a:r>
                  <a:rPr lang="vi-VN" sz="2400" dirty="0"/>
                  <a:t>N</a:t>
                </a:r>
                <a:r>
                  <a:rPr lang="en-GB" sz="2400" dirty="0" err="1">
                    <a:effectLst/>
                  </a:rPr>
                  <a:t>ghĩa</a:t>
                </a:r>
                <a:r>
                  <a:rPr lang="en-GB" sz="2400" dirty="0">
                    <a:effectLst/>
                  </a:rPr>
                  <a:t> </a:t>
                </a:r>
                <a:r>
                  <a:rPr lang="en-GB" sz="2400" dirty="0" err="1">
                    <a:effectLst/>
                  </a:rPr>
                  <a:t>là</a:t>
                </a:r>
                <a:r>
                  <a:rPr lang="en-GB" sz="2400" dirty="0">
                    <a:effectLst/>
                  </a:rPr>
                  <a:t>: </a:t>
                </a:r>
                <a:r>
                  <a:rPr lang="en-GB" sz="2400" b="1" dirty="0" err="1">
                    <a:effectLst/>
                  </a:rPr>
                  <a:t>tối</a:t>
                </a:r>
                <a:r>
                  <a:rPr lang="en-GB" sz="2400" b="1" dirty="0">
                    <a:effectLst/>
                  </a:rPr>
                  <a:t> </a:t>
                </a:r>
                <a:r>
                  <a:rPr lang="en-GB" sz="2400" b="1" dirty="0" err="1">
                    <a:effectLst/>
                  </a:rPr>
                  <a:t>thiểu</a:t>
                </a:r>
                <a:r>
                  <a:rPr lang="en-GB" sz="2400" b="1" dirty="0">
                    <a:effectLst/>
                  </a:rPr>
                  <a:t> </a:t>
                </a:r>
                <a:r>
                  <a:rPr lang="en-GB" sz="2400" b="1" dirty="0" err="1">
                    <a:effectLst/>
                  </a:rPr>
                  <a:t>hóa</a:t>
                </a:r>
                <a:r>
                  <a:rPr lang="en-GB" sz="2400" b="1" dirty="0">
                    <a:effectLst/>
                  </a:rPr>
                  <a:t> </a:t>
                </a:r>
                <a:r>
                  <a:rPr lang="en-GB" sz="2400" b="1" dirty="0" err="1">
                    <a:effectLst/>
                  </a:rPr>
                  <a:t>sai</a:t>
                </a:r>
                <a:r>
                  <a:rPr lang="en-GB" sz="2400" b="1" dirty="0">
                    <a:effectLst/>
                  </a:rPr>
                  <a:t> </a:t>
                </a:r>
                <a:r>
                  <a:rPr lang="en-GB" sz="2400" b="1" dirty="0" err="1">
                    <a:effectLst/>
                  </a:rPr>
                  <a:t>số</a:t>
                </a:r>
                <a:r>
                  <a:rPr lang="en-GB" sz="2400" b="1" dirty="0">
                    <a:effectLst/>
                  </a:rPr>
                  <a:t> </a:t>
                </a:r>
                <a:r>
                  <a:rPr lang="en-GB" sz="2400" b="1" dirty="0" err="1">
                    <a:effectLst/>
                  </a:rPr>
                  <a:t>định</a:t>
                </a:r>
                <a:r>
                  <a:rPr lang="en-GB" sz="2400" b="1" dirty="0">
                    <a:effectLst/>
                  </a:rPr>
                  <a:t> </a:t>
                </a:r>
                <a:r>
                  <a:rPr lang="en-GB" sz="2400" b="1" dirty="0" err="1">
                    <a:effectLst/>
                  </a:rPr>
                  <a:t>vị</a:t>
                </a:r>
                <a:r>
                  <a:rPr lang="en-GB" sz="2400" b="1" dirty="0">
                    <a:effectLst/>
                  </a:rPr>
                  <a:t> (CRLB) </a:t>
                </a:r>
                <a:r>
                  <a:rPr lang="en-GB" sz="2400" b="1" dirty="0" err="1">
                    <a:effectLst/>
                  </a:rPr>
                  <a:t>trong</a:t>
                </a:r>
                <a:r>
                  <a:rPr lang="en-GB" sz="2400" b="1" dirty="0">
                    <a:effectLst/>
                  </a:rPr>
                  <a:t> </a:t>
                </a:r>
                <a:r>
                  <a:rPr lang="en-GB" sz="2400" b="1" dirty="0" err="1">
                    <a:effectLst/>
                  </a:rPr>
                  <a:t>khi</a:t>
                </a:r>
                <a:r>
                  <a:rPr lang="en-GB" sz="2400" b="1" dirty="0">
                    <a:effectLst/>
                  </a:rPr>
                  <a:t> </a:t>
                </a:r>
                <a:r>
                  <a:rPr lang="en-GB" sz="2400" b="1" dirty="0" err="1">
                    <a:effectLst/>
                  </a:rPr>
                  <a:t>vẫn</a:t>
                </a:r>
                <a:r>
                  <a:rPr lang="en-GB" sz="2400" b="1" dirty="0">
                    <a:effectLst/>
                  </a:rPr>
                  <a:t> </a:t>
                </a:r>
                <a:r>
                  <a:rPr lang="en-GB" sz="2400" b="1" dirty="0" err="1">
                    <a:effectLst/>
                  </a:rPr>
                  <a:t>đảm</a:t>
                </a:r>
                <a:r>
                  <a:rPr lang="en-GB" sz="2400" b="1" dirty="0">
                    <a:effectLst/>
                  </a:rPr>
                  <a:t> </a:t>
                </a:r>
                <a:r>
                  <a:rPr lang="en-GB" sz="2400" b="1" dirty="0" err="1">
                    <a:effectLst/>
                  </a:rPr>
                  <a:t>bảo</a:t>
                </a:r>
                <a:r>
                  <a:rPr lang="en-GB" sz="2400" b="1" dirty="0">
                    <a:effectLst/>
                  </a:rPr>
                  <a:t> </a:t>
                </a:r>
                <a:r>
                  <a:rPr lang="en-GB" sz="2400" b="1" dirty="0" err="1">
                    <a:effectLst/>
                  </a:rPr>
                  <a:t>ngưỡng</a:t>
                </a:r>
                <a:r>
                  <a:rPr lang="en-GB" sz="2400" b="1" dirty="0">
                    <a:effectLst/>
                  </a:rPr>
                  <a:t> QoS </a:t>
                </a:r>
                <a:r>
                  <a:rPr lang="en-GB" sz="2400" b="1" dirty="0" err="1">
                    <a:effectLst/>
                  </a:rPr>
                  <a:t>truyền</a:t>
                </a:r>
                <a:r>
                  <a:rPr lang="en-GB" sz="2400" b="1" dirty="0">
                    <a:effectLst/>
                  </a:rPr>
                  <a:t> </a:t>
                </a:r>
                <a:r>
                  <a:rPr lang="en-GB" sz="2400" b="1" dirty="0" err="1">
                    <a:effectLst/>
                  </a:rPr>
                  <a:t>thông</a:t>
                </a:r>
                <a:r>
                  <a:rPr lang="en-GB" sz="2400" b="1" dirty="0">
                    <a:effectLst/>
                  </a:rPr>
                  <a:t> (SINR) </a:t>
                </a:r>
                <a:r>
                  <a:rPr lang="en-GB" sz="2400" b="1" dirty="0" err="1">
                    <a:effectLst/>
                  </a:rPr>
                  <a:t>và</a:t>
                </a:r>
                <a:r>
                  <a:rPr lang="en-GB" sz="2400" b="1" dirty="0">
                    <a:effectLst/>
                  </a:rPr>
                  <a:t> </a:t>
                </a:r>
                <a:r>
                  <a:rPr lang="en-GB" sz="2400" b="1" dirty="0" err="1">
                    <a:effectLst/>
                  </a:rPr>
                  <a:t>giới</a:t>
                </a:r>
                <a:r>
                  <a:rPr lang="en-GB" sz="2400" b="1" dirty="0">
                    <a:effectLst/>
                  </a:rPr>
                  <a:t> </a:t>
                </a:r>
                <a:r>
                  <a:rPr lang="en-GB" sz="2400" b="1" dirty="0" err="1">
                    <a:effectLst/>
                  </a:rPr>
                  <a:t>hạn</a:t>
                </a:r>
                <a:r>
                  <a:rPr lang="en-GB" sz="2400" b="1" dirty="0">
                    <a:effectLst/>
                  </a:rPr>
                  <a:t> </a:t>
                </a:r>
                <a:r>
                  <a:rPr lang="en-GB" sz="2400" b="1" dirty="0" err="1">
                    <a:effectLst/>
                  </a:rPr>
                  <a:t>công</a:t>
                </a:r>
                <a:r>
                  <a:rPr lang="en-GB" sz="2400" b="1" dirty="0">
                    <a:effectLst/>
                  </a:rPr>
                  <a:t> </a:t>
                </a:r>
                <a:r>
                  <a:rPr lang="en-GB" sz="2400" b="1" dirty="0" err="1">
                    <a:effectLst/>
                  </a:rPr>
                  <a:t>suất</a:t>
                </a:r>
                <a:r>
                  <a:rPr lang="en-GB" sz="2400" b="1" dirty="0">
                    <a:effectLst/>
                  </a:rPr>
                  <a:t>/backhaul</a:t>
                </a:r>
                <a:r>
                  <a:rPr lang="en-GB" sz="2400" dirty="0">
                    <a:effectLst/>
                  </a:rPr>
                  <a:t> — </a:t>
                </a:r>
                <a:r>
                  <a:rPr lang="en-GB" sz="2400" dirty="0" err="1">
                    <a:effectLst/>
                  </a:rPr>
                  <a:t>đây</a:t>
                </a:r>
                <a:r>
                  <a:rPr lang="en-GB" sz="2400" dirty="0">
                    <a:effectLst/>
                  </a:rPr>
                  <a:t> </a:t>
                </a:r>
                <a:r>
                  <a:rPr lang="en-GB" sz="2400" dirty="0" err="1">
                    <a:effectLst/>
                  </a:rPr>
                  <a:t>chính</a:t>
                </a:r>
                <a:r>
                  <a:rPr lang="en-GB" sz="2400" dirty="0">
                    <a:effectLst/>
                  </a:rPr>
                  <a:t> </a:t>
                </a:r>
                <a:r>
                  <a:rPr lang="en-GB" sz="2400" dirty="0" err="1">
                    <a:effectLst/>
                  </a:rPr>
                  <a:t>là</a:t>
                </a:r>
                <a:r>
                  <a:rPr lang="en-GB" sz="2400" dirty="0">
                    <a:effectLst/>
                  </a:rPr>
                  <a:t> "network-level ISAC </a:t>
                </a:r>
                <a:r>
                  <a:rPr lang="en-GB" sz="2400" dirty="0" err="1">
                    <a:effectLst/>
                  </a:rPr>
                  <a:t>nhìn</a:t>
                </a:r>
                <a:r>
                  <a:rPr lang="en-GB" sz="2400" dirty="0">
                    <a:effectLst/>
                  </a:rPr>
                  <a:t> </a:t>
                </a:r>
                <a:r>
                  <a:rPr lang="en-GB" sz="2400" dirty="0" err="1">
                    <a:effectLst/>
                  </a:rPr>
                  <a:t>theo</a:t>
                </a:r>
                <a:r>
                  <a:rPr lang="en-GB" sz="2400" dirty="0">
                    <a:effectLst/>
                  </a:rPr>
                  <a:t> QoS": sensing </a:t>
                </a:r>
                <a:r>
                  <a:rPr lang="en-GB" sz="2400" dirty="0" err="1">
                    <a:effectLst/>
                  </a:rPr>
                  <a:t>được</a:t>
                </a:r>
                <a:r>
                  <a:rPr lang="en-GB" sz="2400" dirty="0">
                    <a:effectLst/>
                  </a:rPr>
                  <a:t> </a:t>
                </a:r>
                <a:r>
                  <a:rPr lang="en-GB" sz="2400" dirty="0" err="1">
                    <a:effectLst/>
                  </a:rPr>
                  <a:t>tối</a:t>
                </a:r>
                <a:r>
                  <a:rPr lang="en-GB" sz="2400" dirty="0">
                    <a:effectLst/>
                  </a:rPr>
                  <a:t> </a:t>
                </a:r>
                <a:r>
                  <a:rPr lang="en-GB" sz="2400" dirty="0" err="1">
                    <a:effectLst/>
                  </a:rPr>
                  <a:t>ưu</a:t>
                </a:r>
                <a:r>
                  <a:rPr lang="en-GB" sz="2400" dirty="0">
                    <a:effectLst/>
                  </a:rPr>
                  <a:t> </a:t>
                </a:r>
                <a:r>
                  <a:rPr lang="en-GB" sz="2400" dirty="0" err="1">
                    <a:effectLst/>
                  </a:rPr>
                  <a:t>như</a:t>
                </a:r>
                <a:r>
                  <a:rPr lang="en-GB" sz="2400" dirty="0">
                    <a:effectLst/>
                  </a:rPr>
                  <a:t> </a:t>
                </a:r>
                <a:r>
                  <a:rPr lang="en-GB" sz="2400" dirty="0" err="1">
                    <a:effectLst/>
                  </a:rPr>
                  <a:t>mục</a:t>
                </a:r>
                <a:r>
                  <a:rPr lang="en-GB" sz="2400" dirty="0">
                    <a:effectLst/>
                  </a:rPr>
                  <a:t> </a:t>
                </a:r>
                <a:r>
                  <a:rPr lang="en-GB" sz="2400" dirty="0" err="1">
                    <a:effectLst/>
                  </a:rPr>
                  <a:t>tiêu</a:t>
                </a:r>
                <a:r>
                  <a:rPr lang="en-GB" sz="2400" dirty="0">
                    <a:effectLst/>
                  </a:rPr>
                  <a:t> </a:t>
                </a:r>
                <a:r>
                  <a:rPr lang="en-GB" sz="2400" dirty="0" err="1">
                    <a:effectLst/>
                  </a:rPr>
                  <a:t>chính</a:t>
                </a:r>
                <a:r>
                  <a:rPr lang="en-GB" sz="2400" dirty="0">
                    <a:effectLst/>
                  </a:rPr>
                  <a:t>, communication </a:t>
                </a:r>
                <a:r>
                  <a:rPr lang="en-GB" sz="2400" dirty="0" err="1">
                    <a:effectLst/>
                  </a:rPr>
                  <a:t>được</a:t>
                </a:r>
                <a:r>
                  <a:rPr lang="en-GB" sz="2400" dirty="0">
                    <a:effectLst/>
                  </a:rPr>
                  <a:t> </a:t>
                </a:r>
                <a:r>
                  <a:rPr lang="en-GB" sz="2400" dirty="0" err="1">
                    <a:effectLst/>
                  </a:rPr>
                  <a:t>đưa</a:t>
                </a:r>
                <a:r>
                  <a:rPr lang="en-GB" sz="2400" dirty="0">
                    <a:effectLst/>
                  </a:rPr>
                  <a:t> </a:t>
                </a:r>
                <a:r>
                  <a:rPr lang="en-GB" sz="2400" dirty="0" err="1">
                    <a:effectLst/>
                  </a:rPr>
                  <a:t>vào</a:t>
                </a:r>
                <a:r>
                  <a:rPr lang="en-GB" sz="2400" dirty="0">
                    <a:effectLst/>
                  </a:rPr>
                  <a:t> </a:t>
                </a:r>
                <a:r>
                  <a:rPr lang="en-GB" sz="2400" dirty="0" err="1">
                    <a:effectLst/>
                  </a:rPr>
                  <a:t>như</a:t>
                </a:r>
                <a:r>
                  <a:rPr lang="en-GB" sz="2400" dirty="0">
                    <a:effectLst/>
                  </a:rPr>
                  <a:t> </a:t>
                </a:r>
                <a:r>
                  <a:rPr lang="en-GB" sz="2400" dirty="0" err="1">
                    <a:effectLst/>
                  </a:rPr>
                  <a:t>ràng</a:t>
                </a:r>
                <a:r>
                  <a:rPr lang="en-GB" sz="2400" dirty="0">
                    <a:effectLst/>
                  </a:rPr>
                  <a:t> </a:t>
                </a:r>
                <a:r>
                  <a:rPr lang="en-GB" sz="2400" dirty="0" err="1">
                    <a:effectLst/>
                  </a:rPr>
                  <a:t>buộc</a:t>
                </a:r>
                <a:r>
                  <a:rPr lang="en-GB" sz="2400" dirty="0">
                    <a:effectLst/>
                  </a:rPr>
                  <a:t> </a:t>
                </a:r>
                <a:r>
                  <a:rPr lang="en-GB" sz="2400" dirty="0" err="1">
                    <a:effectLst/>
                  </a:rPr>
                  <a:t>dịch</a:t>
                </a:r>
                <a:r>
                  <a:rPr lang="en-GB" sz="2400" dirty="0">
                    <a:effectLst/>
                  </a:rPr>
                  <a:t> </a:t>
                </a:r>
                <a:r>
                  <a:rPr lang="en-GB" sz="2400" dirty="0" err="1">
                    <a:effectLst/>
                  </a:rPr>
                  <a:t>vụ</a:t>
                </a:r>
                <a:r>
                  <a:rPr lang="en-GB" sz="2400" dirty="0">
                    <a:effectLst/>
                  </a:rPr>
                  <a:t>.</a:t>
                </a:r>
              </a:p>
              <a:p>
                <a:pPr marL="228600" lvl="0" indent="-5080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None/>
                </a:pPr>
                <a:endParaRPr dirty="0"/>
              </a:p>
            </p:txBody>
          </p:sp>
        </mc:Choice>
        <mc:Fallback>
          <p:sp>
            <p:nvSpPr>
              <p:cNvPr id="138" name="Google Shape;138;p9">
                <a:extLst>
                  <a:ext uri="{FF2B5EF4-FFF2-40B4-BE49-F238E27FC236}">
                    <a16:creationId xmlns:a16="http://schemas.microsoft.com/office/drawing/2014/main" id="{7F1AD2CE-04AB-0FC5-7511-0D38EC83E287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37539" y="1032510"/>
                <a:ext cx="11515725" cy="4938713"/>
              </a:xfrm>
              <a:prstGeom prst="rect">
                <a:avLst/>
              </a:prstGeom>
              <a:blipFill>
                <a:blip r:embed="rId3"/>
                <a:stretch>
                  <a:fillRect l="-5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Google Shape;139;p9">
            <a:extLst>
              <a:ext uri="{FF2B5EF4-FFF2-40B4-BE49-F238E27FC236}">
                <a16:creationId xmlns:a16="http://schemas.microsoft.com/office/drawing/2014/main" id="{3445B78C-B7DE-9E57-BB38-04091BD6832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68963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3AB7DE57-9CCE-F7BB-6B2F-DF21AF35A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>
            <a:extLst>
              <a:ext uri="{FF2B5EF4-FFF2-40B4-BE49-F238E27FC236}">
                <a16:creationId xmlns:a16="http://schemas.microsoft.com/office/drawing/2014/main" id="{420D31A1-F49E-E235-5603-DCFE6DA99B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vi-VN" dirty="0"/>
              <a:t>System model</a:t>
            </a:r>
            <a:endParaRPr dirty="0"/>
          </a:p>
        </p:txBody>
      </p:sp>
      <p:sp>
        <p:nvSpPr>
          <p:cNvPr id="139" name="Google Shape;139;p9">
            <a:extLst>
              <a:ext uri="{FF2B5EF4-FFF2-40B4-BE49-F238E27FC236}">
                <a16:creationId xmlns:a16="http://schemas.microsoft.com/office/drawing/2014/main" id="{AC534E98-D773-8811-630C-323F59367DF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2F2A43-BF7F-984C-B853-29883D4AA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3509" y="548641"/>
            <a:ext cx="8656903" cy="601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609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45" name="Google Shape;145;p10"/>
          <p:cNvSpPr txBox="1"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endParaRPr/>
          </a:p>
        </p:txBody>
      </p:sp>
      <p:sp>
        <p:nvSpPr>
          <p:cNvPr id="146" name="Google Shape;146;p10"/>
          <p:cNvSpPr>
            <a:spLocks noGrp="1"/>
          </p:cNvSpPr>
          <p:nvPr>
            <p:ph type="chart" idx="2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0"/>
          <p:cNvSpPr>
            <a:spLocks noGrp="1"/>
          </p:cNvSpPr>
          <p:nvPr>
            <p:ph type="pic" idx="3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"/>
          <p:cNvSpPr txBox="1"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endParaRPr/>
          </a:p>
        </p:txBody>
      </p:sp>
      <p:sp>
        <p:nvSpPr>
          <p:cNvPr id="153" name="Google Shape;153;p11"/>
          <p:cNvSpPr txBox="1">
            <a:spLocks noGrp="1"/>
          </p:cNvSpPr>
          <p:nvPr>
            <p:ph type="body" idx="1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54" name="Google Shape;154;p11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160" name="Google Shape;160;p12"/>
          <p:cNvSpPr txBox="1"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endParaRPr/>
          </a:p>
        </p:txBody>
      </p:sp>
      <p:sp>
        <p:nvSpPr>
          <p:cNvPr id="161" name="Google Shape;161;p12"/>
          <p:cNvSpPr>
            <a:spLocks noGrp="1"/>
          </p:cNvSpPr>
          <p:nvPr>
            <p:ph type="chart" idx="2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2"/>
          <p:cNvSpPr>
            <a:spLocks noGrp="1"/>
          </p:cNvSpPr>
          <p:nvPr>
            <p:ph type="pic" idx="3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 txBox="1"/>
          <p:nvPr/>
        </p:nvSpPr>
        <p:spPr>
          <a:xfrm>
            <a:off x="5605763" y="2869457"/>
            <a:ext cx="5422456" cy="971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Lato"/>
              <a:buNone/>
            </a:pPr>
            <a:r>
              <a:rPr lang="en-US" sz="60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  <a:t>THANK YOU !</a:t>
            </a:r>
            <a:endParaRPr/>
          </a:p>
        </p:txBody>
      </p:sp>
      <p:sp>
        <p:nvSpPr>
          <p:cNvPr id="168" name="Google Shape;168;p13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567</Words>
  <Application>Microsoft Office PowerPoint</Application>
  <PresentationFormat>Widescreen</PresentationFormat>
  <Paragraphs>50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Lato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1. Kiến trúc mạng và các mức hợp tác </vt:lpstr>
      <vt:lpstr>1. Kiến trúc mạng và các mức hợp tác </vt:lpstr>
      <vt:lpstr>2. Mô hình tín hiệu phát tại node n</vt:lpstr>
      <vt:lpstr>2. Mô hình tín hiệu phát tại node n</vt:lpstr>
      <vt:lpstr>3. Mô hình thu (communication)  </vt:lpstr>
      <vt:lpstr>3. Mô hình thu (sensing ) </vt:lpstr>
      <vt:lpstr>PowerPoint Presentation</vt:lpstr>
      <vt:lpstr>4. Chỉ tiêu QoS phía truyền thông</vt:lpstr>
      <vt:lpstr>5. Chỉ tiêu QoS phía sensing</vt:lpstr>
      <vt:lpstr>6. Bài toán tối ưu network-level ràng buộc QoS</vt:lpstr>
      <vt:lpstr>System model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Phong TT &amp; QTTH</dc:creator>
  <cp:lastModifiedBy>Le Dinh Minh Duong 20233355</cp:lastModifiedBy>
  <cp:revision>2</cp:revision>
  <dcterms:created xsi:type="dcterms:W3CDTF">2021-05-28T04:32:29Z</dcterms:created>
  <dcterms:modified xsi:type="dcterms:W3CDTF">2026-08-27T15:27:14Z</dcterms:modified>
</cp:coreProperties>
</file>